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2" r:id="rId9"/>
    <p:sldId id="263" r:id="rId10"/>
    <p:sldId id="264" r:id="rId11"/>
    <p:sldId id="265" r:id="rId12"/>
    <p:sldId id="274" r:id="rId13"/>
    <p:sldId id="266" r:id="rId14"/>
    <p:sldId id="267" r:id="rId15"/>
    <p:sldId id="275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66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21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</c:v>
                </c:pt>
              </c:strCache>
            </c:strRef>
          </c:tx>
          <c:spPr>
            <a:ln w="25400" cap="flat">
              <a:solidFill>
                <a:srgbClr val="0B2E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B2E59"/>
              </a:solidFill>
              <a:ln w="9525" cap="flat">
                <a:solidFill>
                  <a:srgbClr val="0B2E59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</c:v>
                </c:pt>
                <c:pt idx="1">
                  <c:v>55</c:v>
                </c:pt>
                <c:pt idx="2">
                  <c:v>49</c:v>
                </c:pt>
                <c:pt idx="3">
                  <c:v>62</c:v>
                </c:pt>
                <c:pt idx="4">
                  <c:v>58</c:v>
                </c:pt>
                <c:pt idx="5">
                  <c:v>66</c:v>
                </c:pt>
                <c:pt idx="6">
                  <c:v>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5E6-4449-8CF9-1799EF56BA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</c:v>
                </c:pt>
              </c:strCache>
            </c:strRef>
          </c:tx>
          <c:spPr>
            <a:ln w="25400" cap="flat">
              <a:solidFill>
                <a:srgbClr val="0F8B8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8B8D"/>
              </a:solidFill>
              <a:ln w="9525" cap="flat">
                <a:solidFill>
                  <a:srgbClr val="0F8B8D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28</c:v>
                </c:pt>
                <c:pt idx="1">
                  <c:v>31</c:v>
                </c:pt>
                <c:pt idx="2">
                  <c:v>30</c:v>
                </c:pt>
                <c:pt idx="3">
                  <c:v>35</c:v>
                </c:pt>
                <c:pt idx="4">
                  <c:v>33</c:v>
                </c:pt>
                <c:pt idx="5">
                  <c:v>39</c:v>
                </c:pt>
                <c:pt idx="6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E6-4449-8CF9-1799EF56BA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Alert threshold</c:v>
                </c:pt>
              </c:strCache>
            </c:strRef>
          </c:tx>
          <c:spPr>
            <a:ln w="25400" cap="flat">
              <a:solidFill>
                <a:srgbClr val="F4A2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52</c:v>
                </c:pt>
                <c:pt idx="1">
                  <c:v>52</c:v>
                </c:pt>
                <c:pt idx="2">
                  <c:v>52</c:v>
                </c:pt>
                <c:pt idx="3">
                  <c:v>52</c:v>
                </c:pt>
                <c:pt idx="4">
                  <c:v>52</c:v>
                </c:pt>
                <c:pt idx="5">
                  <c:v>52</c:v>
                </c:pt>
                <c:pt idx="6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5E6-4449-8CF9-1799EF56BA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8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88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88">
              <a:solidFill>
                <a:srgbClr val="00000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63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0B2E59">
              <a:alpha val="72157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3709540" y="1665275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7" name="Shape 3"/>
          <p:cNvSpPr/>
          <p:nvPr/>
        </p:nvSpPr>
        <p:spPr>
          <a:xfrm>
            <a:off x="3862387" y="1639081"/>
            <a:ext cx="1571625" cy="138113"/>
          </a:xfrm>
          <a:custGeom>
            <a:avLst/>
            <a:gdLst/>
            <a:ahLst/>
            <a:cxnLst/>
            <a:rect l="l" t="t" r="r" b="b"/>
            <a:pathLst>
              <a:path w="1571625" h="138113">
                <a:moveTo>
                  <a:pt x="0" y="0"/>
                </a:moveTo>
                <a:lnTo>
                  <a:pt x="1571625" y="0"/>
                </a:lnTo>
                <a:lnTo>
                  <a:pt x="157162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3862387" y="1639081"/>
            <a:ext cx="15716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CAPSTONE PROJECT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428750" y="1881187"/>
            <a:ext cx="6286500" cy="700088"/>
          </a:xfrm>
          <a:custGeom>
            <a:avLst/>
            <a:gdLst/>
            <a:ahLst/>
            <a:cxnLst/>
            <a:rect l="l" t="t" r="r" b="b"/>
            <a:pathLst>
              <a:path w="6286500" h="700088">
                <a:moveTo>
                  <a:pt x="0" y="0"/>
                </a:moveTo>
                <a:lnTo>
                  <a:pt x="6286500" y="0"/>
                </a:lnTo>
                <a:lnTo>
                  <a:pt x="6286500" y="700088"/>
                </a:lnTo>
                <a:lnTo>
                  <a:pt x="0" y="7000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1428750" y="1881187"/>
            <a:ext cx="6286500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696"/>
              </a:lnSpc>
              <a:spcBef>
                <a:spcPts val="281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IoT-Based Energy-Efficient Home Appliance Automation Hub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952625" y="2666702"/>
            <a:ext cx="5238750" cy="404813"/>
          </a:xfrm>
          <a:custGeom>
            <a:avLst/>
            <a:gdLst/>
            <a:ahLst/>
            <a:cxnLst/>
            <a:rect l="l" t="t" r="r" b="b"/>
            <a:pathLst>
              <a:path w="5238750" h="404813">
                <a:moveTo>
                  <a:pt x="0" y="0"/>
                </a:moveTo>
                <a:lnTo>
                  <a:pt x="5238750" y="0"/>
                </a:lnTo>
                <a:lnTo>
                  <a:pt x="5238750" y="404813"/>
                </a:lnTo>
                <a:lnTo>
                  <a:pt x="0" y="4048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1952625" y="2666702"/>
            <a:ext cx="52387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Intelligent control for connected appliances, designed to reduce waste and simplify everyday living.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95265" y="3232956"/>
            <a:ext cx="1376363" cy="271463"/>
          </a:xfrm>
          <a:custGeom>
            <a:avLst/>
            <a:gdLst/>
            <a:ahLst/>
            <a:cxnLst/>
            <a:rect l="l" t="t" r="r" b="b"/>
            <a:pathLst>
              <a:path w="1376363" h="271463">
                <a:moveTo>
                  <a:pt x="114299" y="0"/>
                </a:moveTo>
                <a:lnTo>
                  <a:pt x="1262063" y="0"/>
                </a:lnTo>
                <a:quadBezTo>
                  <a:pt x="1376363" y="0"/>
                  <a:pt x="1376363" y="114299"/>
                </a:quadBezTo>
                <a:lnTo>
                  <a:pt x="1376363" y="157163"/>
                </a:lnTo>
                <a:quadBezTo>
                  <a:pt x="1376363" y="271463"/>
                  <a:pt x="1262063" y="271463"/>
                </a:quadBezTo>
                <a:lnTo>
                  <a:pt x="114299" y="271463"/>
                </a:lnTo>
                <a:quadBezTo>
                  <a:pt x="0" y="271463"/>
                  <a:pt x="0" y="157163"/>
                </a:quadBezTo>
                <a:lnTo>
                  <a:pt x="0" y="114299"/>
                </a:lnTo>
                <a:quadBezTo>
                  <a:pt x="0" y="0"/>
                  <a:pt x="114299" y="0"/>
                </a:quadBezTo>
                <a:close/>
              </a:path>
            </a:pathLst>
          </a:custGeom>
          <a:solidFill>
            <a:srgbClr val="FFFFFF">
              <a:alpha val="12157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2694215" y="3232956"/>
            <a:ext cx="1452946" cy="278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Mohammed Haneef</a:t>
            </a:r>
          </a:p>
          <a:p>
            <a:pPr>
              <a:lnSpc>
                <a:spcPct val="104348"/>
              </a:lnSpc>
              <a:spcBef>
                <a:spcPts val="281"/>
              </a:spcBef>
            </a:pPr>
            <a:r>
              <a:rPr lang="en-US" sz="900" dirty="0"/>
              <a:t>         </a:t>
            </a:r>
            <a:r>
              <a:rPr lang="en-US" sz="900" dirty="0">
                <a:solidFill>
                  <a:schemeClr val="bg1"/>
                </a:solidFill>
              </a:rPr>
              <a:t>1925260004</a:t>
            </a:r>
          </a:p>
        </p:txBody>
      </p:sp>
      <p:sp>
        <p:nvSpPr>
          <p:cNvPr id="15" name="Shape 11"/>
          <p:cNvSpPr/>
          <p:nvPr/>
        </p:nvSpPr>
        <p:spPr>
          <a:xfrm>
            <a:off x="4057652" y="3240490"/>
            <a:ext cx="1695450" cy="271463"/>
          </a:xfrm>
          <a:custGeom>
            <a:avLst/>
            <a:gdLst/>
            <a:ahLst/>
            <a:cxnLst/>
            <a:rect l="l" t="t" r="r" b="b"/>
            <a:pathLst>
              <a:path w="1695450" h="271463">
                <a:moveTo>
                  <a:pt x="114299" y="0"/>
                </a:moveTo>
                <a:lnTo>
                  <a:pt x="1581151" y="0"/>
                </a:lnTo>
                <a:quadBezTo>
                  <a:pt x="1695450" y="0"/>
                  <a:pt x="1695450" y="114299"/>
                </a:quadBezTo>
                <a:lnTo>
                  <a:pt x="1695450" y="157163"/>
                </a:lnTo>
                <a:quadBezTo>
                  <a:pt x="1695450" y="271463"/>
                  <a:pt x="1581151" y="271463"/>
                </a:quadBezTo>
                <a:lnTo>
                  <a:pt x="114299" y="271463"/>
                </a:lnTo>
                <a:quadBezTo>
                  <a:pt x="0" y="271463"/>
                  <a:pt x="0" y="157163"/>
                </a:quadBezTo>
                <a:lnTo>
                  <a:pt x="0" y="114299"/>
                </a:lnTo>
                <a:quadBezTo>
                  <a:pt x="0" y="0"/>
                  <a:pt x="114299" y="0"/>
                </a:quadBezTo>
                <a:close/>
              </a:path>
            </a:pathLst>
          </a:custGeom>
          <a:solidFill>
            <a:srgbClr val="FFFFFF">
              <a:alpha val="12157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4147161" y="3240389"/>
            <a:ext cx="1695450" cy="33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Mohammed Farmanullah</a:t>
            </a:r>
          </a:p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dirty="0"/>
              <a:t>               </a:t>
            </a:r>
            <a:r>
              <a:rPr lang="en-US" sz="900" dirty="0">
                <a:solidFill>
                  <a:schemeClr val="bg1"/>
                </a:solidFill>
              </a:rPr>
              <a:t>1972226040</a:t>
            </a:r>
          </a:p>
        </p:txBody>
      </p:sp>
      <p:sp>
        <p:nvSpPr>
          <p:cNvPr id="17" name="Shape 13"/>
          <p:cNvSpPr/>
          <p:nvPr/>
        </p:nvSpPr>
        <p:spPr>
          <a:xfrm>
            <a:off x="5839126" y="3216542"/>
            <a:ext cx="1002250" cy="271463"/>
          </a:xfrm>
          <a:custGeom>
            <a:avLst/>
            <a:gdLst/>
            <a:ahLst/>
            <a:cxnLst/>
            <a:rect l="l" t="t" r="r" b="b"/>
            <a:pathLst>
              <a:path w="709613" h="271463">
                <a:moveTo>
                  <a:pt x="114299" y="0"/>
                </a:moveTo>
                <a:lnTo>
                  <a:pt x="595313" y="0"/>
                </a:lnTo>
                <a:quadBezTo>
                  <a:pt x="709613" y="0"/>
                  <a:pt x="709613" y="114299"/>
                </a:quadBezTo>
                <a:lnTo>
                  <a:pt x="709613" y="157163"/>
                </a:lnTo>
                <a:quadBezTo>
                  <a:pt x="709613" y="271463"/>
                  <a:pt x="595313" y="271463"/>
                </a:quadBezTo>
                <a:lnTo>
                  <a:pt x="114299" y="271463"/>
                </a:lnTo>
                <a:quadBezTo>
                  <a:pt x="0" y="271463"/>
                  <a:pt x="0" y="157163"/>
                </a:quadBezTo>
                <a:lnTo>
                  <a:pt x="0" y="114299"/>
                </a:lnTo>
                <a:quadBezTo>
                  <a:pt x="0" y="0"/>
                  <a:pt x="114299" y="0"/>
                </a:quadBezTo>
                <a:close/>
              </a:path>
            </a:pathLst>
          </a:custGeom>
          <a:solidFill>
            <a:srgbClr val="FFFFFF">
              <a:alpha val="12157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5946056" y="3232956"/>
            <a:ext cx="124531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Kavin JG</a:t>
            </a:r>
          </a:p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</a:rPr>
              <a:t>1924260105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71500" y="4728195"/>
            <a:ext cx="304800" cy="19050"/>
          </a:xfrm>
          <a:custGeom>
            <a:avLst/>
            <a:gdLst/>
            <a:ahLst/>
            <a:cxnLst/>
            <a:rect l="l" t="t" r="r" b="b"/>
            <a:pathLst>
              <a:path w="304800" h="19050">
                <a:moveTo>
                  <a:pt x="0" y="0"/>
                </a:moveTo>
                <a:lnTo>
                  <a:pt x="304800" y="0"/>
                </a:lnTo>
                <a:lnTo>
                  <a:pt x="3048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20" name="Shape 16"/>
          <p:cNvSpPr/>
          <p:nvPr/>
        </p:nvSpPr>
        <p:spPr>
          <a:xfrm>
            <a:off x="942379" y="4675826"/>
            <a:ext cx="2024062" cy="123825"/>
          </a:xfrm>
          <a:custGeom>
            <a:avLst/>
            <a:gdLst/>
            <a:ahLst/>
            <a:cxnLst/>
            <a:rect l="l" t="t" r="r" b="b"/>
            <a:pathLst>
              <a:path w="2024062" h="123825">
                <a:moveTo>
                  <a:pt x="0" y="0"/>
                </a:moveTo>
                <a:lnTo>
                  <a:pt x="2024062" y="0"/>
                </a:lnTo>
                <a:lnTo>
                  <a:pt x="2024062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942379" y="4675826"/>
            <a:ext cx="20240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HOME AUTOMATION HUB</a:t>
            </a:r>
            <a:endParaRPr lang="en-US" sz="9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C6E611-C3CC-1ADF-C914-3D3B80BBBA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19100" y="362899"/>
            <a:ext cx="6286500" cy="123825"/>
          </a:xfrm>
          <a:custGeom>
            <a:avLst/>
            <a:gdLst/>
            <a:ahLst/>
            <a:cxnLst/>
            <a:rect l="l" t="t" r="r" b="b"/>
            <a:pathLst>
              <a:path w="6286500" h="123825">
                <a:moveTo>
                  <a:pt x="0" y="0"/>
                </a:moveTo>
                <a:lnTo>
                  <a:pt x="6286500" y="0"/>
                </a:lnTo>
                <a:lnTo>
                  <a:pt x="628650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19100" y="362899"/>
            <a:ext cx="6286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9100" y="573584"/>
            <a:ext cx="4667250" cy="666750"/>
          </a:xfrm>
          <a:custGeom>
            <a:avLst/>
            <a:gdLst/>
            <a:ahLst/>
            <a:cxnLst/>
            <a:rect l="l" t="t" r="r" b="b"/>
            <a:pathLst>
              <a:path w="4667250" h="666750">
                <a:moveTo>
                  <a:pt x="0" y="0"/>
                </a:moveTo>
                <a:lnTo>
                  <a:pt x="4667250" y="0"/>
                </a:lnTo>
                <a:lnTo>
                  <a:pt x="4667250" y="666750"/>
                </a:lnTo>
                <a:lnTo>
                  <a:pt x="0" y="666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19100" y="573584"/>
            <a:ext cx="4667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1304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flow for the engineering review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9100" y="1326244"/>
            <a:ext cx="5334000" cy="385763"/>
          </a:xfrm>
          <a:custGeom>
            <a:avLst/>
            <a:gdLst/>
            <a:ahLst/>
            <a:cxnLst/>
            <a:rect l="l" t="t" r="r" b="b"/>
            <a:pathLst>
              <a:path w="5334000" h="385763">
                <a:moveTo>
                  <a:pt x="0" y="0"/>
                </a:moveTo>
                <a:lnTo>
                  <a:pt x="5334000" y="0"/>
                </a:lnTo>
                <a:lnTo>
                  <a:pt x="533400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19100" y="1326244"/>
            <a:ext cx="5334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the problem context to the implementation results, this presentation follows the full system story.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9100" y="2007895"/>
            <a:ext cx="4057650" cy="1300163"/>
          </a:xfrm>
          <a:custGeom>
            <a:avLst/>
            <a:gdLst/>
            <a:ahLst/>
            <a:cxnLst/>
            <a:rect l="l" t="t" r="r" b="b"/>
            <a:pathLst>
              <a:path w="4057650" h="1300163">
                <a:moveTo>
                  <a:pt x="93781" y="0"/>
                </a:moveTo>
                <a:lnTo>
                  <a:pt x="3963869" y="0"/>
                </a:lnTo>
                <a:quadBezTo>
                  <a:pt x="4057650" y="0"/>
                  <a:pt x="4057650" y="93781"/>
                </a:quadBezTo>
                <a:lnTo>
                  <a:pt x="4057650" y="1206382"/>
                </a:lnTo>
                <a:quadBezTo>
                  <a:pt x="4057650" y="1300163"/>
                  <a:pt x="3963869" y="1300163"/>
                </a:quadBezTo>
                <a:lnTo>
                  <a:pt x="93781" y="1300163"/>
                </a:lnTo>
                <a:quadBezTo>
                  <a:pt x="0" y="1300163"/>
                  <a:pt x="0" y="1206382"/>
                </a:quadBezTo>
                <a:lnTo>
                  <a:pt x="0" y="93781"/>
                </a:lnTo>
                <a:quadBezTo>
                  <a:pt x="0" y="0"/>
                  <a:pt x="93781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61925" dist="6667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9600" y="2188257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65315" y="0"/>
                </a:moveTo>
                <a:lnTo>
                  <a:pt x="201385" y="0"/>
                </a:lnTo>
                <a:quadBezTo>
                  <a:pt x="266700" y="0"/>
                  <a:pt x="266700" y="65315"/>
                </a:quadBezTo>
                <a:lnTo>
                  <a:pt x="266700" y="201385"/>
                </a:lnTo>
                <a:quadBezTo>
                  <a:pt x="266700" y="266700"/>
                  <a:pt x="201385" y="266700"/>
                </a:quadBezTo>
                <a:lnTo>
                  <a:pt x="65315" y="266700"/>
                </a:lnTo>
                <a:quadBezTo>
                  <a:pt x="0" y="266700"/>
                  <a:pt x="0" y="201385"/>
                </a:quadBezTo>
                <a:lnTo>
                  <a:pt x="0" y="65315"/>
                </a:lnTo>
                <a:quadBezTo>
                  <a:pt x="0" y="0"/>
                  <a:pt x="6531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254932"/>
            <a:ext cx="133350" cy="13335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62099" y="2233482"/>
            <a:ext cx="1647825" cy="176212"/>
          </a:xfrm>
          <a:custGeom>
            <a:avLst/>
            <a:gdLst/>
            <a:ahLst/>
            <a:cxnLst/>
            <a:rect l="l" t="t" r="r" b="b"/>
            <a:pathLst>
              <a:path w="1647825" h="176212">
                <a:moveTo>
                  <a:pt x="0" y="0"/>
                </a:moveTo>
                <a:lnTo>
                  <a:pt x="1647825" y="0"/>
                </a:lnTo>
                <a:lnTo>
                  <a:pt x="1647825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962099" y="2233482"/>
            <a:ext cx="1647825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9600" y="2551137"/>
            <a:ext cx="3429000" cy="357188"/>
          </a:xfrm>
          <a:custGeom>
            <a:avLst/>
            <a:gdLst/>
            <a:ahLst/>
            <a:cxnLst/>
            <a:rect l="l" t="t" r="r" b="b"/>
            <a:pathLst>
              <a:path w="3429000" h="357188">
                <a:moveTo>
                  <a:pt x="0" y="0"/>
                </a:moveTo>
                <a:lnTo>
                  <a:pt x="3429000" y="0"/>
                </a:lnTo>
                <a:lnTo>
                  <a:pt x="3429000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609600" y="2551137"/>
            <a:ext cx="34290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the pain point, why it matters, and the motivation behind the smart-home automation hub.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667250" y="2007895"/>
            <a:ext cx="4057650" cy="1300163"/>
          </a:xfrm>
          <a:custGeom>
            <a:avLst/>
            <a:gdLst/>
            <a:ahLst/>
            <a:cxnLst/>
            <a:rect l="l" t="t" r="r" b="b"/>
            <a:pathLst>
              <a:path w="4057650" h="1300163">
                <a:moveTo>
                  <a:pt x="93781" y="0"/>
                </a:moveTo>
                <a:lnTo>
                  <a:pt x="3963869" y="0"/>
                </a:lnTo>
                <a:quadBezTo>
                  <a:pt x="4057650" y="0"/>
                  <a:pt x="4057650" y="93781"/>
                </a:quadBezTo>
                <a:lnTo>
                  <a:pt x="4057650" y="1206382"/>
                </a:lnTo>
                <a:quadBezTo>
                  <a:pt x="4057650" y="1300163"/>
                  <a:pt x="3963869" y="1300163"/>
                </a:quadBezTo>
                <a:lnTo>
                  <a:pt x="93781" y="1300163"/>
                </a:lnTo>
                <a:quadBezTo>
                  <a:pt x="0" y="1300163"/>
                  <a:pt x="0" y="1206382"/>
                </a:quadBezTo>
                <a:lnTo>
                  <a:pt x="0" y="93781"/>
                </a:lnTo>
                <a:quadBezTo>
                  <a:pt x="0" y="0"/>
                  <a:pt x="93781" y="0"/>
                </a:quadBezTo>
                <a:close/>
              </a:path>
            </a:pathLst>
          </a:custGeom>
          <a:solidFill>
            <a:srgbClr val="F5F8FC"/>
          </a:solidFill>
          <a:ln/>
          <a:effectLst>
            <a:outerShdw blurRad="161925" dist="66675" dir="2700000" algn="bl" rotWithShape="0">
              <a:srgbClr val="0B2E59">
                <a:alpha val="5882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857750" y="2188257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65315" y="0"/>
                </a:moveTo>
                <a:lnTo>
                  <a:pt x="201385" y="0"/>
                </a:lnTo>
                <a:quadBezTo>
                  <a:pt x="266700" y="0"/>
                  <a:pt x="266700" y="65315"/>
                </a:quadBezTo>
                <a:lnTo>
                  <a:pt x="266700" y="201385"/>
                </a:lnTo>
                <a:quadBezTo>
                  <a:pt x="266700" y="266700"/>
                  <a:pt x="201385" y="266700"/>
                </a:quadBezTo>
                <a:lnTo>
                  <a:pt x="65315" y="266700"/>
                </a:lnTo>
                <a:quadBezTo>
                  <a:pt x="0" y="266700"/>
                  <a:pt x="0" y="201385"/>
                </a:quadBezTo>
                <a:lnTo>
                  <a:pt x="0" y="65315"/>
                </a:lnTo>
                <a:quadBezTo>
                  <a:pt x="0" y="0"/>
                  <a:pt x="6531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425" y="2254932"/>
            <a:ext cx="133350" cy="13335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210231" y="2233482"/>
            <a:ext cx="1814513" cy="176212"/>
          </a:xfrm>
          <a:custGeom>
            <a:avLst/>
            <a:gdLst/>
            <a:ahLst/>
            <a:cxnLst/>
            <a:rect l="l" t="t" r="r" b="b"/>
            <a:pathLst>
              <a:path w="1814513" h="176212">
                <a:moveTo>
                  <a:pt x="0" y="0"/>
                </a:moveTo>
                <a:lnTo>
                  <a:pt x="1814513" y="0"/>
                </a:lnTo>
                <a:lnTo>
                  <a:pt x="1814513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5210231" y="2233482"/>
            <a:ext cx="1814513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 and scope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857750" y="2551137"/>
            <a:ext cx="3429000" cy="357188"/>
          </a:xfrm>
          <a:custGeom>
            <a:avLst/>
            <a:gdLst/>
            <a:ahLst/>
            <a:cxnLst/>
            <a:rect l="l" t="t" r="r" b="b"/>
            <a:pathLst>
              <a:path w="3429000" h="357188">
                <a:moveTo>
                  <a:pt x="0" y="0"/>
                </a:moveTo>
                <a:lnTo>
                  <a:pt x="3429000" y="0"/>
                </a:lnTo>
                <a:lnTo>
                  <a:pt x="3429000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4857750" y="2551137"/>
            <a:ext cx="34290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Clarify what the system will achieve, the boundaries of the build, and the success criteria.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19100" y="3499805"/>
            <a:ext cx="4057650" cy="1300163"/>
          </a:xfrm>
          <a:custGeom>
            <a:avLst/>
            <a:gdLst/>
            <a:ahLst/>
            <a:cxnLst/>
            <a:rect l="l" t="t" r="r" b="b"/>
            <a:pathLst>
              <a:path w="4057650" h="1300163">
                <a:moveTo>
                  <a:pt x="93781" y="0"/>
                </a:moveTo>
                <a:lnTo>
                  <a:pt x="3963869" y="0"/>
                </a:lnTo>
                <a:quadBezTo>
                  <a:pt x="4057650" y="0"/>
                  <a:pt x="4057650" y="93781"/>
                </a:quadBezTo>
                <a:lnTo>
                  <a:pt x="4057650" y="1206382"/>
                </a:lnTo>
                <a:quadBezTo>
                  <a:pt x="4057650" y="1300163"/>
                  <a:pt x="3963869" y="1300163"/>
                </a:quadBezTo>
                <a:lnTo>
                  <a:pt x="93781" y="1300163"/>
                </a:lnTo>
                <a:quadBezTo>
                  <a:pt x="0" y="1300163"/>
                  <a:pt x="0" y="1206382"/>
                </a:quadBezTo>
                <a:lnTo>
                  <a:pt x="0" y="93781"/>
                </a:lnTo>
                <a:quadBezTo>
                  <a:pt x="0" y="0"/>
                  <a:pt x="93781" y="0"/>
                </a:quadBezTo>
                <a:close/>
              </a:path>
            </a:pathLst>
          </a:custGeom>
          <a:solidFill>
            <a:srgbClr val="F5F8FC"/>
          </a:solidFill>
          <a:ln/>
          <a:effectLst>
            <a:outerShdw blurRad="161925" dist="66675" dir="2700000" algn="bl" rotWithShape="0">
              <a:srgbClr val="0B2E59">
                <a:alpha val="5882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09600" y="3680148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65315" y="0"/>
                </a:moveTo>
                <a:lnTo>
                  <a:pt x="201385" y="0"/>
                </a:lnTo>
                <a:quadBezTo>
                  <a:pt x="266700" y="0"/>
                  <a:pt x="266700" y="65315"/>
                </a:quadBezTo>
                <a:lnTo>
                  <a:pt x="266700" y="201385"/>
                </a:lnTo>
                <a:quadBezTo>
                  <a:pt x="266700" y="266700"/>
                  <a:pt x="201385" y="266700"/>
                </a:quadBezTo>
                <a:lnTo>
                  <a:pt x="65315" y="266700"/>
                </a:lnTo>
                <a:quadBezTo>
                  <a:pt x="0" y="266700"/>
                  <a:pt x="0" y="201385"/>
                </a:quadBezTo>
                <a:lnTo>
                  <a:pt x="0" y="65315"/>
                </a:lnTo>
                <a:quadBezTo>
                  <a:pt x="0" y="0"/>
                  <a:pt x="6531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3746823"/>
            <a:ext cx="133350" cy="13335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61951" y="3725374"/>
            <a:ext cx="2157413" cy="176212"/>
          </a:xfrm>
          <a:custGeom>
            <a:avLst/>
            <a:gdLst/>
            <a:ahLst/>
            <a:cxnLst/>
            <a:rect l="l" t="t" r="r" b="b"/>
            <a:pathLst>
              <a:path w="2157413" h="176212">
                <a:moveTo>
                  <a:pt x="0" y="0"/>
                </a:moveTo>
                <a:lnTo>
                  <a:pt x="2157413" y="0"/>
                </a:lnTo>
                <a:lnTo>
                  <a:pt x="2157413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961951" y="3725374"/>
            <a:ext cx="2157413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and method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09600" y="4043028"/>
            <a:ext cx="3429000" cy="357188"/>
          </a:xfrm>
          <a:custGeom>
            <a:avLst/>
            <a:gdLst/>
            <a:ahLst/>
            <a:cxnLst/>
            <a:rect l="l" t="t" r="r" b="b"/>
            <a:pathLst>
              <a:path w="3429000" h="357188">
                <a:moveTo>
                  <a:pt x="0" y="0"/>
                </a:moveTo>
                <a:lnTo>
                  <a:pt x="3429000" y="0"/>
                </a:lnTo>
                <a:lnTo>
                  <a:pt x="3429000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6"/>
          <p:cNvSpPr/>
          <p:nvPr/>
        </p:nvSpPr>
        <p:spPr>
          <a:xfrm>
            <a:off x="609600" y="4043028"/>
            <a:ext cx="34290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Walk through the module layout, signal flow, and methodology used to design the control system.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667250" y="3499805"/>
            <a:ext cx="4057650" cy="1300163"/>
          </a:xfrm>
          <a:custGeom>
            <a:avLst/>
            <a:gdLst/>
            <a:ahLst/>
            <a:cxnLst/>
            <a:rect l="l" t="t" r="r" b="b"/>
            <a:pathLst>
              <a:path w="4057650" h="1300163">
                <a:moveTo>
                  <a:pt x="93781" y="0"/>
                </a:moveTo>
                <a:lnTo>
                  <a:pt x="3963869" y="0"/>
                </a:lnTo>
                <a:quadBezTo>
                  <a:pt x="4057650" y="0"/>
                  <a:pt x="4057650" y="93781"/>
                </a:quadBezTo>
                <a:lnTo>
                  <a:pt x="4057650" y="1206382"/>
                </a:lnTo>
                <a:quadBezTo>
                  <a:pt x="4057650" y="1300163"/>
                  <a:pt x="3963869" y="1300163"/>
                </a:quadBezTo>
                <a:lnTo>
                  <a:pt x="93781" y="1300163"/>
                </a:lnTo>
                <a:quadBezTo>
                  <a:pt x="0" y="1300163"/>
                  <a:pt x="0" y="1206382"/>
                </a:quadBezTo>
                <a:lnTo>
                  <a:pt x="0" y="93781"/>
                </a:lnTo>
                <a:quadBezTo>
                  <a:pt x="0" y="0"/>
                  <a:pt x="93781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61925" dist="6667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857750" y="3680148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266700" h="266700">
                <a:moveTo>
                  <a:pt x="65315" y="0"/>
                </a:moveTo>
                <a:lnTo>
                  <a:pt x="201385" y="0"/>
                </a:lnTo>
                <a:quadBezTo>
                  <a:pt x="266700" y="0"/>
                  <a:pt x="266700" y="65315"/>
                </a:quadBezTo>
                <a:lnTo>
                  <a:pt x="266700" y="201385"/>
                </a:lnTo>
                <a:quadBezTo>
                  <a:pt x="266700" y="266700"/>
                  <a:pt x="201385" y="266700"/>
                </a:quadBezTo>
                <a:lnTo>
                  <a:pt x="65315" y="266700"/>
                </a:lnTo>
                <a:quadBezTo>
                  <a:pt x="0" y="266700"/>
                  <a:pt x="0" y="201385"/>
                </a:quadBezTo>
                <a:lnTo>
                  <a:pt x="0" y="65315"/>
                </a:lnTo>
                <a:quadBezTo>
                  <a:pt x="0" y="0"/>
                  <a:pt x="6531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4425" y="3746823"/>
            <a:ext cx="133350" cy="133350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5210994" y="3725374"/>
            <a:ext cx="2362200" cy="176212"/>
          </a:xfrm>
          <a:custGeom>
            <a:avLst/>
            <a:gdLst/>
            <a:ahLst/>
            <a:cxnLst/>
            <a:rect l="l" t="t" r="r" b="b"/>
            <a:pathLst>
              <a:path w="2362200" h="176212">
                <a:moveTo>
                  <a:pt x="0" y="0"/>
                </a:moveTo>
                <a:lnTo>
                  <a:pt x="2362200" y="0"/>
                </a:lnTo>
                <a:lnTo>
                  <a:pt x="2362200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0"/>
          <p:cNvSpPr/>
          <p:nvPr/>
        </p:nvSpPr>
        <p:spPr>
          <a:xfrm>
            <a:off x="5210994" y="3725374"/>
            <a:ext cx="2362200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and results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4857750" y="4043028"/>
            <a:ext cx="3429000" cy="357188"/>
          </a:xfrm>
          <a:custGeom>
            <a:avLst/>
            <a:gdLst/>
            <a:ahLst/>
            <a:cxnLst/>
            <a:rect l="l" t="t" r="r" b="b"/>
            <a:pathLst>
              <a:path w="3429000" h="357188">
                <a:moveTo>
                  <a:pt x="0" y="0"/>
                </a:moveTo>
                <a:lnTo>
                  <a:pt x="3429000" y="0"/>
                </a:lnTo>
                <a:lnTo>
                  <a:pt x="3429000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2"/>
          <p:cNvSpPr/>
          <p:nvPr/>
        </p:nvSpPr>
        <p:spPr>
          <a:xfrm>
            <a:off x="4857750" y="4043028"/>
            <a:ext cx="34290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 the build outcome, testing evidence, and the final results that support the evaluation.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9342C85-0C53-ED43-7D02-B6FC4FC9456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19100" y="395287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7" name="Shape 4"/>
          <p:cNvSpPr/>
          <p:nvPr/>
        </p:nvSpPr>
        <p:spPr>
          <a:xfrm>
            <a:off x="544024" y="342900"/>
            <a:ext cx="2328863" cy="171450"/>
          </a:xfrm>
          <a:custGeom>
            <a:avLst/>
            <a:gdLst/>
            <a:ahLst/>
            <a:cxnLst/>
            <a:rect l="l" t="t" r="r" b="b"/>
            <a:pathLst>
              <a:path w="2328863" h="171450">
                <a:moveTo>
                  <a:pt x="0" y="0"/>
                </a:moveTo>
                <a:lnTo>
                  <a:pt x="2328863" y="0"/>
                </a:lnTo>
                <a:lnTo>
                  <a:pt x="2328863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44024" y="342900"/>
            <a:ext cx="23288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ENGINEERING PROBLEM FRAMING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9100" y="581881"/>
            <a:ext cx="4667250" cy="328613"/>
          </a:xfrm>
          <a:custGeom>
            <a:avLst/>
            <a:gdLst/>
            <a:ahLst/>
            <a:cxnLst/>
            <a:rect l="l" t="t" r="r" b="b"/>
            <a:pathLst>
              <a:path w="4667250" h="328613">
                <a:moveTo>
                  <a:pt x="0" y="0"/>
                </a:moveTo>
                <a:lnTo>
                  <a:pt x="4667250" y="0"/>
                </a:lnTo>
                <a:lnTo>
                  <a:pt x="4667250" y="328613"/>
                </a:lnTo>
                <a:lnTo>
                  <a:pt x="0" y="3286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19100" y="581881"/>
            <a:ext cx="466725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435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9100" y="978098"/>
            <a:ext cx="5619750" cy="414338"/>
          </a:xfrm>
          <a:custGeom>
            <a:avLst/>
            <a:gdLst/>
            <a:ahLst/>
            <a:cxnLst/>
            <a:rect l="l" t="t" r="r" b="b"/>
            <a:pathLst>
              <a:path w="5619750" h="414338">
                <a:moveTo>
                  <a:pt x="0" y="0"/>
                </a:moveTo>
                <a:lnTo>
                  <a:pt x="5619750" y="0"/>
                </a:lnTo>
                <a:lnTo>
                  <a:pt x="5619750" y="414338"/>
                </a:lnTo>
                <a:lnTo>
                  <a:pt x="0" y="4143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19100" y="978098"/>
            <a:ext cx="56197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Households waste energy because usage is visible only at the whole-home level, leaving control reactive instead of intelligent.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9100" y="1460040"/>
            <a:ext cx="4643438" cy="3648075"/>
          </a:xfrm>
          <a:custGeom>
            <a:avLst/>
            <a:gdLst/>
            <a:ahLst/>
            <a:cxnLst/>
            <a:rect l="l" t="t" r="r" b="b"/>
            <a:pathLst>
              <a:path w="4643438" h="3648075">
                <a:moveTo>
                  <a:pt x="33416" y="0"/>
                </a:moveTo>
                <a:lnTo>
                  <a:pt x="4610021" y="0"/>
                </a:lnTo>
                <a:quadBezTo>
                  <a:pt x="4643438" y="0"/>
                  <a:pt x="4643438" y="33416"/>
                </a:quadBezTo>
                <a:lnTo>
                  <a:pt x="4643438" y="3614659"/>
                </a:lnTo>
                <a:quadBezTo>
                  <a:pt x="4643438" y="3648075"/>
                  <a:pt x="4610021" y="3648075"/>
                </a:quadBezTo>
                <a:lnTo>
                  <a:pt x="33416" y="3648075"/>
                </a:lnTo>
                <a:quadBezTo>
                  <a:pt x="0" y="3648075"/>
                  <a:pt x="0" y="3614659"/>
                </a:quadBezTo>
                <a:lnTo>
                  <a:pt x="0" y="33416"/>
                </a:lnTo>
                <a:quadBezTo>
                  <a:pt x="0" y="0"/>
                  <a:pt x="33416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13500000" algn="bl" rotWithShape="0">
              <a:srgbClr val="E2E8F0">
                <a:alpha val="10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Shape 11"/>
          <p:cNvSpPr/>
          <p:nvPr/>
        </p:nvSpPr>
        <p:spPr>
          <a:xfrm>
            <a:off x="628650" y="187828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133070"/>
                  <a:pt x="38380" y="171450"/>
                  <a:pt x="85725" y="171450"/>
                </a:cubicBezTo>
                <a:cubicBezTo>
                  <a:pt x="133070" y="171450"/>
                  <a:pt x="171450" y="133070"/>
                  <a:pt x="171450" y="85725"/>
                </a:cubicBezTo>
                <a:cubicBezTo>
                  <a:pt x="171450" y="38380"/>
                  <a:pt x="133070" y="0"/>
                  <a:pt x="85725" y="0"/>
                </a:cubicBezTo>
                <a:cubicBezTo>
                  <a:pt x="38380" y="0"/>
                  <a:pt x="0" y="38380"/>
                  <a:pt x="0" y="85725"/>
                </a:cubic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3" y="1921148"/>
            <a:ext cx="85725" cy="8572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86290" y="1878509"/>
            <a:ext cx="3967162" cy="185738"/>
          </a:xfrm>
          <a:custGeom>
            <a:avLst/>
            <a:gdLst/>
            <a:ahLst/>
            <a:cxnLst/>
            <a:rect l="l" t="t" r="r" b="b"/>
            <a:pathLst>
              <a:path w="3967162" h="185738">
                <a:moveTo>
                  <a:pt x="0" y="0"/>
                </a:moveTo>
                <a:lnTo>
                  <a:pt x="3967162" y="0"/>
                </a:lnTo>
                <a:lnTo>
                  <a:pt x="3967162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886290" y="1878509"/>
            <a:ext cx="396716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Rising household electricity consumption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886290" y="2093491"/>
            <a:ext cx="3967162" cy="333375"/>
          </a:xfrm>
          <a:custGeom>
            <a:avLst/>
            <a:gdLst/>
            <a:ahLst/>
            <a:cxnLst/>
            <a:rect l="l" t="t" r="r" b="b"/>
            <a:pathLst>
              <a:path w="3967162" h="333375">
                <a:moveTo>
                  <a:pt x="0" y="0"/>
                </a:moveTo>
                <a:lnTo>
                  <a:pt x="3967162" y="0"/>
                </a:lnTo>
                <a:lnTo>
                  <a:pt x="3967162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886290" y="2093491"/>
            <a:ext cx="396716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 keeps climbing, increasing the pressure to manage loads more intelligently.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28650" y="255113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133070"/>
                  <a:pt x="38380" y="171450"/>
                  <a:pt x="85725" y="171450"/>
                </a:cubicBezTo>
                <a:cubicBezTo>
                  <a:pt x="133070" y="171450"/>
                  <a:pt x="171450" y="133070"/>
                  <a:pt x="171450" y="85725"/>
                </a:cubicBezTo>
                <a:cubicBezTo>
                  <a:pt x="171450" y="38380"/>
                  <a:pt x="133070" y="0"/>
                  <a:pt x="85725" y="0"/>
                </a:cubicBezTo>
                <a:cubicBezTo>
                  <a:pt x="38380" y="0"/>
                  <a:pt x="0" y="38380"/>
                  <a:pt x="0" y="85725"/>
                </a:cubic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2594000"/>
            <a:ext cx="85725" cy="8572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86290" y="2551361"/>
            <a:ext cx="3967162" cy="185738"/>
          </a:xfrm>
          <a:custGeom>
            <a:avLst/>
            <a:gdLst/>
            <a:ahLst/>
            <a:cxnLst/>
            <a:rect l="l" t="t" r="r" b="b"/>
            <a:pathLst>
              <a:path w="3967162" h="185738">
                <a:moveTo>
                  <a:pt x="0" y="0"/>
                </a:moveTo>
                <a:lnTo>
                  <a:pt x="3967162" y="0"/>
                </a:lnTo>
                <a:lnTo>
                  <a:pt x="3967162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86290" y="2551361"/>
            <a:ext cx="396716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visibility of appliance-level usage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886290" y="2766343"/>
            <a:ext cx="3967162" cy="333375"/>
          </a:xfrm>
          <a:custGeom>
            <a:avLst/>
            <a:gdLst/>
            <a:ahLst/>
            <a:cxnLst/>
            <a:rect l="l" t="t" r="r" b="b"/>
            <a:pathLst>
              <a:path w="3967162" h="333375">
                <a:moveTo>
                  <a:pt x="0" y="0"/>
                </a:moveTo>
                <a:lnTo>
                  <a:pt x="3967162" y="0"/>
                </a:lnTo>
                <a:lnTo>
                  <a:pt x="3967162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0"/>
          <p:cNvSpPr/>
          <p:nvPr/>
        </p:nvSpPr>
        <p:spPr>
          <a:xfrm>
            <a:off x="886290" y="2766343"/>
            <a:ext cx="396716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Without appliance-level insight, waste remains hidden and difficult to diagnose.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628650" y="322398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133070"/>
                  <a:pt x="38380" y="171450"/>
                  <a:pt x="85725" y="171450"/>
                </a:cubicBezTo>
                <a:cubicBezTo>
                  <a:pt x="133070" y="171450"/>
                  <a:pt x="171450" y="133070"/>
                  <a:pt x="171450" y="85725"/>
                </a:cubicBezTo>
                <a:cubicBezTo>
                  <a:pt x="171450" y="38380"/>
                  <a:pt x="133070" y="0"/>
                  <a:pt x="85725" y="0"/>
                </a:cubicBezTo>
                <a:cubicBezTo>
                  <a:pt x="38380" y="0"/>
                  <a:pt x="0" y="38380"/>
                  <a:pt x="0" y="85725"/>
                </a:cubic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3" y="3266851"/>
            <a:ext cx="85725" cy="8572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86290" y="3224213"/>
            <a:ext cx="3967162" cy="185738"/>
          </a:xfrm>
          <a:custGeom>
            <a:avLst/>
            <a:gdLst/>
            <a:ahLst/>
            <a:cxnLst/>
            <a:rect l="l" t="t" r="r" b="b"/>
            <a:pathLst>
              <a:path w="3967162" h="185738">
                <a:moveTo>
                  <a:pt x="0" y="0"/>
                </a:moveTo>
                <a:lnTo>
                  <a:pt x="3967162" y="0"/>
                </a:lnTo>
                <a:lnTo>
                  <a:pt x="3967162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886290" y="3224213"/>
            <a:ext cx="396716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control causes energy wastage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886290" y="3439196"/>
            <a:ext cx="3967162" cy="333375"/>
          </a:xfrm>
          <a:custGeom>
            <a:avLst/>
            <a:gdLst/>
            <a:ahLst/>
            <a:cxnLst/>
            <a:rect l="l" t="t" r="r" b="b"/>
            <a:pathLst>
              <a:path w="3967162" h="333375">
                <a:moveTo>
                  <a:pt x="0" y="0"/>
                </a:moveTo>
                <a:lnTo>
                  <a:pt x="3967162" y="0"/>
                </a:lnTo>
                <a:lnTo>
                  <a:pt x="3967162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5"/>
          <p:cNvSpPr/>
          <p:nvPr/>
        </p:nvSpPr>
        <p:spPr>
          <a:xfrm>
            <a:off x="886290" y="3439196"/>
            <a:ext cx="396716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 intervention is too slow, inconsistent, and dependent on attention.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22380" y="4339270"/>
            <a:ext cx="4224337" cy="604837"/>
          </a:xfrm>
          <a:custGeom>
            <a:avLst/>
            <a:gdLst/>
            <a:ahLst/>
            <a:cxnLst/>
            <a:rect l="l" t="t" r="r" b="b"/>
            <a:pathLst>
              <a:path w="4224337" h="604837">
                <a:moveTo>
                  <a:pt x="158401" y="0"/>
                </a:moveTo>
                <a:lnTo>
                  <a:pt x="4065937" y="0"/>
                </a:lnTo>
                <a:quadBezTo>
                  <a:pt x="4224337" y="0"/>
                  <a:pt x="4224337" y="158401"/>
                </a:quadBezTo>
                <a:lnTo>
                  <a:pt x="4224337" y="446437"/>
                </a:lnTo>
                <a:quadBezTo>
                  <a:pt x="4224337" y="604837"/>
                  <a:pt x="4065937" y="604837"/>
                </a:quadBezTo>
                <a:lnTo>
                  <a:pt x="158401" y="604837"/>
                </a:lnTo>
                <a:quadBezTo>
                  <a:pt x="0" y="604837"/>
                  <a:pt x="0" y="446437"/>
                </a:quadBezTo>
                <a:lnTo>
                  <a:pt x="0" y="158401"/>
                </a:lnTo>
                <a:quadBezTo>
                  <a:pt x="0" y="0"/>
                  <a:pt x="158401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33" name="Shape 27"/>
          <p:cNvSpPr/>
          <p:nvPr/>
        </p:nvSpPr>
        <p:spPr>
          <a:xfrm>
            <a:off x="762000" y="4643177"/>
            <a:ext cx="161925" cy="161925"/>
          </a:xfrm>
          <a:custGeom>
            <a:avLst/>
            <a:gdLst/>
            <a:ahLst/>
            <a:cxnLst/>
            <a:rect l="l" t="t" r="r" b="b"/>
            <a:pathLst>
              <a:path w="161925" h="161925">
                <a:moveTo>
                  <a:pt x="0" y="80962"/>
                </a:moveTo>
                <a:cubicBezTo>
                  <a:pt x="0" y="125677"/>
                  <a:pt x="36248" y="161925"/>
                  <a:pt x="80962" y="161925"/>
                </a:cubicBezTo>
                <a:cubicBezTo>
                  <a:pt x="125677" y="161925"/>
                  <a:pt x="161925" y="125677"/>
                  <a:pt x="161925" y="80962"/>
                </a:cubicBezTo>
                <a:cubicBezTo>
                  <a:pt x="161925" y="36248"/>
                  <a:pt x="125677" y="0"/>
                  <a:pt x="80962" y="0"/>
                </a:cubicBezTo>
                <a:cubicBezTo>
                  <a:pt x="36248" y="0"/>
                  <a:pt x="0" y="36248"/>
                  <a:pt x="0" y="8096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681277"/>
            <a:ext cx="85725" cy="85725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000590" y="4644107"/>
            <a:ext cx="3719512" cy="357188"/>
          </a:xfrm>
          <a:custGeom>
            <a:avLst/>
            <a:gdLst/>
            <a:ahLst/>
            <a:cxnLst/>
            <a:rect l="l" t="t" r="r" b="b"/>
            <a:pathLst>
              <a:path w="3719512" h="357188">
                <a:moveTo>
                  <a:pt x="0" y="0"/>
                </a:moveTo>
                <a:lnTo>
                  <a:pt x="3719512" y="0"/>
                </a:lnTo>
                <a:lnTo>
                  <a:pt x="3719512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29"/>
          <p:cNvSpPr/>
          <p:nvPr/>
        </p:nvSpPr>
        <p:spPr>
          <a:xfrm>
            <a:off x="962025" y="4443412"/>
            <a:ext cx="3719512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core gap is not just consumption — it is the lack of timely, appliance-aware automation.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5278601" y="1400175"/>
            <a:ext cx="3433762" cy="3648075"/>
          </a:xfrm>
          <a:custGeom>
            <a:avLst/>
            <a:gdLst/>
            <a:ahLst/>
            <a:cxnLst/>
            <a:rect l="l" t="t" r="r" b="b"/>
            <a:pathLst>
              <a:path w="3433762" h="3648075">
                <a:moveTo>
                  <a:pt x="35505" y="0"/>
                </a:moveTo>
                <a:lnTo>
                  <a:pt x="3398257" y="0"/>
                </a:lnTo>
                <a:quadBezTo>
                  <a:pt x="3433762" y="0"/>
                  <a:pt x="3433762" y="35505"/>
                </a:quadBezTo>
                <a:lnTo>
                  <a:pt x="3433762" y="3612570"/>
                </a:lnTo>
                <a:quadBezTo>
                  <a:pt x="3433762" y="3648075"/>
                  <a:pt x="3398257" y="3648075"/>
                </a:quadBezTo>
                <a:lnTo>
                  <a:pt x="35505" y="3648075"/>
                </a:lnTo>
                <a:quadBezTo>
                  <a:pt x="0" y="3648075"/>
                  <a:pt x="0" y="3612570"/>
                </a:quadBezTo>
                <a:lnTo>
                  <a:pt x="0" y="35505"/>
                </a:lnTo>
                <a:quadBezTo>
                  <a:pt x="0" y="0"/>
                  <a:pt x="35505" y="0"/>
                </a:quadBez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38" name="Shape 31"/>
          <p:cNvSpPr/>
          <p:nvPr/>
        </p:nvSpPr>
        <p:spPr>
          <a:xfrm>
            <a:off x="5472579" y="1878286"/>
            <a:ext cx="3071813" cy="171450"/>
          </a:xfrm>
          <a:custGeom>
            <a:avLst/>
            <a:gdLst/>
            <a:ahLst/>
            <a:cxnLst/>
            <a:rect l="l" t="t" r="r" b="b"/>
            <a:pathLst>
              <a:path w="3071813" h="171450">
                <a:moveTo>
                  <a:pt x="0" y="0"/>
                </a:moveTo>
                <a:lnTo>
                  <a:pt x="3071813" y="0"/>
                </a:lnTo>
                <a:lnTo>
                  <a:pt x="3071813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2"/>
          <p:cNvSpPr/>
          <p:nvPr/>
        </p:nvSpPr>
        <p:spPr>
          <a:xfrm>
            <a:off x="5459575" y="1467781"/>
            <a:ext cx="30718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9FD9D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5473043" y="2135831"/>
            <a:ext cx="1714500" cy="895350"/>
          </a:xfrm>
          <a:custGeom>
            <a:avLst/>
            <a:gdLst/>
            <a:ahLst/>
            <a:cxnLst/>
            <a:rect l="l" t="t" r="r" b="b"/>
            <a:pathLst>
              <a:path w="1714500" h="895350">
                <a:moveTo>
                  <a:pt x="0" y="0"/>
                </a:moveTo>
                <a:lnTo>
                  <a:pt x="1714500" y="0"/>
                </a:lnTo>
                <a:lnTo>
                  <a:pt x="1714500" y="895350"/>
                </a:lnTo>
                <a:lnTo>
                  <a:pt x="0" y="895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4"/>
          <p:cNvSpPr/>
          <p:nvPr/>
        </p:nvSpPr>
        <p:spPr>
          <a:xfrm>
            <a:off x="5481638" y="1706837"/>
            <a:ext cx="171450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609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smarter home must sense, decide, and act automatically.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5473043" y="3116312"/>
            <a:ext cx="1809750" cy="747712"/>
          </a:xfrm>
          <a:custGeom>
            <a:avLst/>
            <a:gdLst/>
            <a:ahLst/>
            <a:cxnLst/>
            <a:rect l="l" t="t" r="r" b="b"/>
            <a:pathLst>
              <a:path w="1809750" h="747712">
                <a:moveTo>
                  <a:pt x="0" y="0"/>
                </a:moveTo>
                <a:lnTo>
                  <a:pt x="1809750" y="0"/>
                </a:lnTo>
                <a:lnTo>
                  <a:pt x="1809750" y="747712"/>
                </a:lnTo>
                <a:lnTo>
                  <a:pt x="0" y="747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6"/>
          <p:cNvSpPr/>
          <p:nvPr/>
        </p:nvSpPr>
        <p:spPr>
          <a:xfrm>
            <a:off x="5481638" y="2703343"/>
            <a:ext cx="1809750" cy="74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826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DCE9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solution must translate raw energy data into precise control at the appliance level.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5459575" y="3553204"/>
            <a:ext cx="3071813" cy="361950"/>
          </a:xfrm>
          <a:custGeom>
            <a:avLst/>
            <a:gdLst/>
            <a:ahLst/>
            <a:cxnLst/>
            <a:rect l="l" t="t" r="r" b="b"/>
            <a:pathLst>
              <a:path w="3071813" h="361950">
                <a:moveTo>
                  <a:pt x="60156" y="0"/>
                </a:moveTo>
                <a:lnTo>
                  <a:pt x="3011656" y="0"/>
                </a:lnTo>
                <a:quadBezTo>
                  <a:pt x="3071813" y="0"/>
                  <a:pt x="3071813" y="60156"/>
                </a:quadBezTo>
                <a:lnTo>
                  <a:pt x="3071813" y="301794"/>
                </a:lnTo>
                <a:quadBezTo>
                  <a:pt x="3071813" y="361950"/>
                  <a:pt x="3011656" y="361950"/>
                </a:quadBezTo>
                <a:lnTo>
                  <a:pt x="60156" y="361950"/>
                </a:lnTo>
                <a:quadBezTo>
                  <a:pt x="0" y="361950"/>
                  <a:pt x="0" y="301794"/>
                </a:quadBezTo>
                <a:lnTo>
                  <a:pt x="0" y="60156"/>
                </a:lnTo>
                <a:quadBezTo>
                  <a:pt x="0" y="0"/>
                  <a:pt x="60156" y="0"/>
                </a:quad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5" name="Shape 38"/>
          <p:cNvSpPr/>
          <p:nvPr/>
        </p:nvSpPr>
        <p:spPr>
          <a:xfrm>
            <a:off x="5574177" y="3708299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46" name="Shape 39"/>
          <p:cNvSpPr/>
          <p:nvPr/>
        </p:nvSpPr>
        <p:spPr>
          <a:xfrm>
            <a:off x="5729677" y="3968780"/>
            <a:ext cx="795338" cy="152400"/>
          </a:xfrm>
          <a:custGeom>
            <a:avLst/>
            <a:gdLst/>
            <a:ahLst/>
            <a:cxnLst/>
            <a:rect l="l" t="t" r="r" b="b"/>
            <a:pathLst>
              <a:path w="795338" h="152400">
                <a:moveTo>
                  <a:pt x="0" y="0"/>
                </a:moveTo>
                <a:lnTo>
                  <a:pt x="795338" y="0"/>
                </a:lnTo>
                <a:lnTo>
                  <a:pt x="795338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7" name="Text 40"/>
          <p:cNvSpPr/>
          <p:nvPr/>
        </p:nvSpPr>
        <p:spPr>
          <a:xfrm>
            <a:off x="5731019" y="3657979"/>
            <a:ext cx="795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Visible usage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5472579" y="4035993"/>
            <a:ext cx="3071813" cy="361950"/>
          </a:xfrm>
          <a:custGeom>
            <a:avLst/>
            <a:gdLst/>
            <a:ahLst/>
            <a:cxnLst/>
            <a:rect l="l" t="t" r="r" b="b"/>
            <a:pathLst>
              <a:path w="3071813" h="361950">
                <a:moveTo>
                  <a:pt x="60156" y="0"/>
                </a:moveTo>
                <a:lnTo>
                  <a:pt x="3011656" y="0"/>
                </a:lnTo>
                <a:quadBezTo>
                  <a:pt x="3071813" y="0"/>
                  <a:pt x="3071813" y="60156"/>
                </a:quadBezTo>
                <a:lnTo>
                  <a:pt x="3071813" y="301794"/>
                </a:lnTo>
                <a:quadBezTo>
                  <a:pt x="3071813" y="361950"/>
                  <a:pt x="3011656" y="361950"/>
                </a:quadBezTo>
                <a:lnTo>
                  <a:pt x="60156" y="361950"/>
                </a:lnTo>
                <a:quadBezTo>
                  <a:pt x="0" y="361950"/>
                  <a:pt x="0" y="301794"/>
                </a:quadBezTo>
                <a:lnTo>
                  <a:pt x="0" y="60156"/>
                </a:lnTo>
                <a:quadBezTo>
                  <a:pt x="0" y="0"/>
                  <a:pt x="60156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Shape 42"/>
          <p:cNvSpPr/>
          <p:nvPr/>
        </p:nvSpPr>
        <p:spPr>
          <a:xfrm>
            <a:off x="5577818" y="4161838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2BB673"/>
          </a:solidFill>
          <a:ln/>
        </p:spPr>
      </p:sp>
      <p:sp>
        <p:nvSpPr>
          <p:cNvPr id="50" name="Shape 43"/>
          <p:cNvSpPr/>
          <p:nvPr/>
        </p:nvSpPr>
        <p:spPr>
          <a:xfrm>
            <a:off x="5731019" y="4418354"/>
            <a:ext cx="1447800" cy="152400"/>
          </a:xfrm>
          <a:custGeom>
            <a:avLst/>
            <a:gdLst/>
            <a:ahLst/>
            <a:cxnLst/>
            <a:rect l="l" t="t" r="r" b="b"/>
            <a:pathLst>
              <a:path w="1447800" h="152400">
                <a:moveTo>
                  <a:pt x="0" y="0"/>
                </a:moveTo>
                <a:lnTo>
                  <a:pt x="1447800" y="0"/>
                </a:lnTo>
                <a:lnTo>
                  <a:pt x="144780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1" name="Text 44"/>
          <p:cNvSpPr/>
          <p:nvPr/>
        </p:nvSpPr>
        <p:spPr>
          <a:xfrm>
            <a:off x="5731019" y="4071370"/>
            <a:ext cx="1447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intervention</a:t>
            </a:r>
            <a:endParaRPr lang="en-US" sz="900" dirty="0"/>
          </a:p>
        </p:txBody>
      </p:sp>
      <p:sp>
        <p:nvSpPr>
          <p:cNvPr id="52" name="Shape 45"/>
          <p:cNvSpPr/>
          <p:nvPr/>
        </p:nvSpPr>
        <p:spPr>
          <a:xfrm>
            <a:off x="5472579" y="4501891"/>
            <a:ext cx="3071813" cy="361950"/>
          </a:xfrm>
          <a:custGeom>
            <a:avLst/>
            <a:gdLst/>
            <a:ahLst/>
            <a:cxnLst/>
            <a:rect l="l" t="t" r="r" b="b"/>
            <a:pathLst>
              <a:path w="3071813" h="361950">
                <a:moveTo>
                  <a:pt x="60156" y="0"/>
                </a:moveTo>
                <a:lnTo>
                  <a:pt x="3011656" y="0"/>
                </a:lnTo>
                <a:quadBezTo>
                  <a:pt x="3071813" y="0"/>
                  <a:pt x="3071813" y="60156"/>
                </a:quadBezTo>
                <a:lnTo>
                  <a:pt x="3071813" y="301794"/>
                </a:lnTo>
                <a:quadBezTo>
                  <a:pt x="3071813" y="361950"/>
                  <a:pt x="3011656" y="361950"/>
                </a:quadBezTo>
                <a:lnTo>
                  <a:pt x="60156" y="361950"/>
                </a:lnTo>
                <a:quadBezTo>
                  <a:pt x="0" y="361950"/>
                  <a:pt x="0" y="301794"/>
                </a:quadBezTo>
                <a:lnTo>
                  <a:pt x="0" y="60156"/>
                </a:lnTo>
                <a:quadBezTo>
                  <a:pt x="0" y="0"/>
                  <a:pt x="60156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Shape 46"/>
          <p:cNvSpPr/>
          <p:nvPr/>
        </p:nvSpPr>
        <p:spPr>
          <a:xfrm>
            <a:off x="5577818" y="4644071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54" name="Shape 47"/>
          <p:cNvSpPr/>
          <p:nvPr/>
        </p:nvSpPr>
        <p:spPr>
          <a:xfrm>
            <a:off x="5729790" y="4867927"/>
            <a:ext cx="1071563" cy="152400"/>
          </a:xfrm>
          <a:custGeom>
            <a:avLst/>
            <a:gdLst/>
            <a:ahLst/>
            <a:cxnLst/>
            <a:rect l="l" t="t" r="r" b="b"/>
            <a:pathLst>
              <a:path w="1071563" h="152400">
                <a:moveTo>
                  <a:pt x="0" y="0"/>
                </a:moveTo>
                <a:lnTo>
                  <a:pt x="1071563" y="0"/>
                </a:lnTo>
                <a:lnTo>
                  <a:pt x="1071563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5" name="Text 48"/>
          <p:cNvSpPr/>
          <p:nvPr/>
        </p:nvSpPr>
        <p:spPr>
          <a:xfrm>
            <a:off x="5729790" y="4602585"/>
            <a:ext cx="10715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Reduced wastage</a:t>
            </a:r>
            <a:endParaRPr lang="en-US" sz="9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34A280E-1D5E-8B3A-EB74-1A292FF0FA2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19100" y="391716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7" name="Shape 4"/>
          <p:cNvSpPr/>
          <p:nvPr/>
        </p:nvSpPr>
        <p:spPr>
          <a:xfrm>
            <a:off x="552450" y="357188"/>
            <a:ext cx="1429829" cy="135731"/>
          </a:xfrm>
          <a:custGeom>
            <a:avLst/>
            <a:gdLst/>
            <a:ahLst/>
            <a:cxnLst/>
            <a:rect l="l" t="t" r="r" b="b"/>
            <a:pathLst>
              <a:path w="1429829" h="135731">
                <a:moveTo>
                  <a:pt x="0" y="0"/>
                </a:moveTo>
                <a:lnTo>
                  <a:pt x="1429829" y="0"/>
                </a:lnTo>
                <a:lnTo>
                  <a:pt x="1429829" y="135731"/>
                </a:lnTo>
                <a:lnTo>
                  <a:pt x="0" y="13573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52450" y="357188"/>
            <a:ext cx="142982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40870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19100" y="592689"/>
            <a:ext cx="4667250" cy="981075"/>
          </a:xfrm>
          <a:custGeom>
            <a:avLst/>
            <a:gdLst/>
            <a:ahLst/>
            <a:cxnLst/>
            <a:rect l="l" t="t" r="r" b="b"/>
            <a:pathLst>
              <a:path w="4667250" h="981075">
                <a:moveTo>
                  <a:pt x="0" y="0"/>
                </a:moveTo>
                <a:lnTo>
                  <a:pt x="4667250" y="0"/>
                </a:lnTo>
                <a:lnTo>
                  <a:pt x="4667250" y="981075"/>
                </a:lnTo>
                <a:lnTo>
                  <a:pt x="0" y="9810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19100" y="592689"/>
            <a:ext cx="4667250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smart home hub that balances control, visibility, and comfort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9100" y="1658522"/>
            <a:ext cx="5334000" cy="657225"/>
          </a:xfrm>
          <a:custGeom>
            <a:avLst/>
            <a:gdLst/>
            <a:ahLst/>
            <a:cxnLst/>
            <a:rect l="l" t="t" r="r" b="b"/>
            <a:pathLst>
              <a:path w="5334000" h="657225">
                <a:moveTo>
                  <a:pt x="0" y="0"/>
                </a:moveTo>
                <a:lnTo>
                  <a:pt x="5334000" y="0"/>
                </a:lnTo>
                <a:lnTo>
                  <a:pt x="5334000" y="657225"/>
                </a:lnTo>
                <a:lnTo>
                  <a:pt x="0" y="6572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19100" y="1658522"/>
            <a:ext cx="533400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348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pillars guide the system: build a clean IoT automation core, expose energy use in real time, and optimize routines without sacrificing comfort.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8300" y="2619599"/>
            <a:ext cx="2643188" cy="2219325"/>
          </a:xfrm>
          <a:custGeom>
            <a:avLst/>
            <a:gdLst/>
            <a:ahLst/>
            <a:cxnLst/>
            <a:rect l="l" t="t" r="r" b="b"/>
            <a:pathLst>
              <a:path w="2643188" h="2219325">
                <a:moveTo>
                  <a:pt x="54950" y="0"/>
                </a:moveTo>
                <a:lnTo>
                  <a:pt x="2588237" y="0"/>
                </a:lnTo>
                <a:quadBezTo>
                  <a:pt x="2643188" y="0"/>
                  <a:pt x="2643188" y="54950"/>
                </a:quadBezTo>
                <a:lnTo>
                  <a:pt x="2643188" y="2164375"/>
                </a:lnTo>
                <a:quadBezTo>
                  <a:pt x="2643188" y="2219325"/>
                  <a:pt x="2588237" y="2219325"/>
                </a:quadBezTo>
                <a:lnTo>
                  <a:pt x="54950" y="2219325"/>
                </a:lnTo>
                <a:quadBezTo>
                  <a:pt x="0" y="2219325"/>
                  <a:pt x="0" y="2164375"/>
                </a:quadBezTo>
                <a:lnTo>
                  <a:pt x="0" y="54950"/>
                </a:lnTo>
                <a:quadBezTo>
                  <a:pt x="0" y="0"/>
                  <a:pt x="5495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8572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0550" y="3026233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76201" y="0"/>
                </a:moveTo>
                <a:lnTo>
                  <a:pt x="180974" y="0"/>
                </a:lnTo>
                <a:quadBezTo>
                  <a:pt x="257175" y="0"/>
                  <a:pt x="257175" y="76201"/>
                </a:quadBezTo>
                <a:lnTo>
                  <a:pt x="257175" y="180974"/>
                </a:lnTo>
                <a:quadBezTo>
                  <a:pt x="257175" y="257175"/>
                  <a:pt x="180974" y="257175"/>
                </a:quadBezTo>
                <a:lnTo>
                  <a:pt x="76201" y="257175"/>
                </a:lnTo>
                <a:quadBezTo>
                  <a:pt x="0" y="257175"/>
                  <a:pt x="0" y="180974"/>
                </a:quadBezTo>
                <a:lnTo>
                  <a:pt x="0" y="76201"/>
                </a:lnTo>
                <a:quadBezTo>
                  <a:pt x="0" y="0"/>
                  <a:pt x="76201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3092908"/>
            <a:ext cx="123825" cy="12382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23125" y="2801744"/>
            <a:ext cx="1966912" cy="176212"/>
          </a:xfrm>
          <a:custGeom>
            <a:avLst/>
            <a:gdLst/>
            <a:ahLst/>
            <a:cxnLst/>
            <a:rect l="l" t="t" r="r" b="b"/>
            <a:pathLst>
              <a:path w="1966912" h="176212">
                <a:moveTo>
                  <a:pt x="0" y="0"/>
                </a:moveTo>
                <a:lnTo>
                  <a:pt x="1966912" y="0"/>
                </a:lnTo>
                <a:lnTo>
                  <a:pt x="1966912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923125" y="2801744"/>
            <a:ext cx="1966912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 hub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923125" y="3008151"/>
            <a:ext cx="1966912" cy="500063"/>
          </a:xfrm>
          <a:custGeom>
            <a:avLst/>
            <a:gdLst/>
            <a:ahLst/>
            <a:cxnLst/>
            <a:rect l="l" t="t" r="r" b="b"/>
            <a:pathLst>
              <a:path w="1966912" h="500063">
                <a:moveTo>
                  <a:pt x="0" y="0"/>
                </a:moveTo>
                <a:lnTo>
                  <a:pt x="1966912" y="0"/>
                </a:lnTo>
                <a:lnTo>
                  <a:pt x="1966912" y="500063"/>
                </a:lnTo>
                <a:lnTo>
                  <a:pt x="0" y="5000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923125" y="3008151"/>
            <a:ext cx="1966912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one intelligent control layer for lighting, appliances, and daily routines.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90550" y="3689858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21" name="Shape 17"/>
          <p:cNvSpPr/>
          <p:nvPr/>
        </p:nvSpPr>
        <p:spPr>
          <a:xfrm>
            <a:off x="704050" y="3642680"/>
            <a:ext cx="2185988" cy="333375"/>
          </a:xfrm>
          <a:custGeom>
            <a:avLst/>
            <a:gdLst/>
            <a:ahLst/>
            <a:cxnLst/>
            <a:rect l="l" t="t" r="r" b="b"/>
            <a:pathLst>
              <a:path w="2185988" h="333375">
                <a:moveTo>
                  <a:pt x="0" y="0"/>
                </a:moveTo>
                <a:lnTo>
                  <a:pt x="2185988" y="0"/>
                </a:lnTo>
                <a:lnTo>
                  <a:pt x="2185988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704050" y="3642680"/>
            <a:ext cx="21859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Unified rules reduce manual switching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90550" y="410032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2BB673"/>
          </a:solidFill>
          <a:ln/>
        </p:spPr>
      </p:sp>
      <p:sp>
        <p:nvSpPr>
          <p:cNvPr id="24" name="Shape 20"/>
          <p:cNvSpPr/>
          <p:nvPr/>
        </p:nvSpPr>
        <p:spPr>
          <a:xfrm>
            <a:off x="704050" y="4053148"/>
            <a:ext cx="2185988" cy="333375"/>
          </a:xfrm>
          <a:custGeom>
            <a:avLst/>
            <a:gdLst/>
            <a:ahLst/>
            <a:cxnLst/>
            <a:rect l="l" t="t" r="r" b="b"/>
            <a:pathLst>
              <a:path w="2185988" h="333375">
                <a:moveTo>
                  <a:pt x="0" y="0"/>
                </a:moveTo>
                <a:lnTo>
                  <a:pt x="2185988" y="0"/>
                </a:lnTo>
                <a:lnTo>
                  <a:pt x="2185988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704050" y="4053148"/>
            <a:ext cx="21859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 enough to expand room by room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250388" y="2619599"/>
            <a:ext cx="2643188" cy="2219325"/>
          </a:xfrm>
          <a:custGeom>
            <a:avLst/>
            <a:gdLst/>
            <a:ahLst/>
            <a:cxnLst/>
            <a:rect l="l" t="t" r="r" b="b"/>
            <a:pathLst>
              <a:path w="2643188" h="2219325">
                <a:moveTo>
                  <a:pt x="54950" y="0"/>
                </a:moveTo>
                <a:lnTo>
                  <a:pt x="2588237" y="0"/>
                </a:lnTo>
                <a:quadBezTo>
                  <a:pt x="2643188" y="0"/>
                  <a:pt x="2643188" y="54950"/>
                </a:quadBezTo>
                <a:lnTo>
                  <a:pt x="2643188" y="2164375"/>
                </a:lnTo>
                <a:quadBezTo>
                  <a:pt x="2643188" y="2219325"/>
                  <a:pt x="2588237" y="2219325"/>
                </a:quadBezTo>
                <a:lnTo>
                  <a:pt x="54950" y="2219325"/>
                </a:lnTo>
                <a:quadBezTo>
                  <a:pt x="0" y="2219325"/>
                  <a:pt x="0" y="2164375"/>
                </a:quadBezTo>
                <a:lnTo>
                  <a:pt x="0" y="54950"/>
                </a:lnTo>
                <a:quadBezTo>
                  <a:pt x="0" y="0"/>
                  <a:pt x="54950" y="0"/>
                </a:quadBezTo>
                <a:close/>
              </a:path>
            </a:pathLst>
          </a:custGeom>
          <a:solidFill>
            <a:srgbClr val="0B2E59"/>
          </a:solidFill>
          <a:ln/>
          <a:effectLst>
            <a:outerShdw blurRad="190500" dist="85725" dir="2700000" algn="bl" rotWithShape="0">
              <a:srgbClr val="0B2E59">
                <a:alpha val="12157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422639" y="3109801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76201" y="0"/>
                </a:moveTo>
                <a:lnTo>
                  <a:pt x="180974" y="0"/>
                </a:lnTo>
                <a:quadBezTo>
                  <a:pt x="257175" y="0"/>
                  <a:pt x="257175" y="76201"/>
                </a:quadBezTo>
                <a:lnTo>
                  <a:pt x="257175" y="180974"/>
                </a:lnTo>
                <a:quadBezTo>
                  <a:pt x="257175" y="257175"/>
                  <a:pt x="180974" y="257175"/>
                </a:quadBezTo>
                <a:lnTo>
                  <a:pt x="76201" y="257175"/>
                </a:lnTo>
                <a:quadBezTo>
                  <a:pt x="0" y="257175"/>
                  <a:pt x="0" y="180974"/>
                </a:quadBezTo>
                <a:lnTo>
                  <a:pt x="0" y="76201"/>
                </a:lnTo>
                <a:quadBezTo>
                  <a:pt x="0" y="0"/>
                  <a:pt x="76201" y="0"/>
                </a:quadBezTo>
                <a:close/>
              </a:path>
            </a:pathLst>
          </a:custGeom>
          <a:solidFill>
            <a:srgbClr val="0F8B8D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9314" y="3176476"/>
            <a:ext cx="123825" cy="123825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3755213" y="2801744"/>
            <a:ext cx="1966912" cy="176212"/>
          </a:xfrm>
          <a:custGeom>
            <a:avLst/>
            <a:gdLst/>
            <a:ahLst/>
            <a:cxnLst/>
            <a:rect l="l" t="t" r="r" b="b"/>
            <a:pathLst>
              <a:path w="1966912" h="176212">
                <a:moveTo>
                  <a:pt x="0" y="0"/>
                </a:moveTo>
                <a:lnTo>
                  <a:pt x="1966912" y="0"/>
                </a:lnTo>
                <a:lnTo>
                  <a:pt x="1966912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3755213" y="2801744"/>
            <a:ext cx="1966912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visibility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755213" y="3008375"/>
            <a:ext cx="1966912" cy="666750"/>
          </a:xfrm>
          <a:custGeom>
            <a:avLst/>
            <a:gdLst/>
            <a:ahLst/>
            <a:cxnLst/>
            <a:rect l="l" t="t" r="r" b="b"/>
            <a:pathLst>
              <a:path w="1966912" h="666750">
                <a:moveTo>
                  <a:pt x="0" y="0"/>
                </a:moveTo>
                <a:lnTo>
                  <a:pt x="1966912" y="0"/>
                </a:lnTo>
                <a:lnTo>
                  <a:pt x="1966912" y="666750"/>
                </a:lnTo>
                <a:lnTo>
                  <a:pt x="0" y="666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3755213" y="3008375"/>
            <a:ext cx="196691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D7E3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 appliance consumption in real time to expose waste and usage patterns.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3422639" y="385699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34" name="Shape 29"/>
          <p:cNvSpPr/>
          <p:nvPr/>
        </p:nvSpPr>
        <p:spPr>
          <a:xfrm>
            <a:off x="3536324" y="3809591"/>
            <a:ext cx="2171700" cy="166688"/>
          </a:xfrm>
          <a:custGeom>
            <a:avLst/>
            <a:gdLst/>
            <a:ahLst/>
            <a:cxnLst/>
            <a:rect l="l" t="t" r="r" b="b"/>
            <a:pathLst>
              <a:path w="2171700" h="166688">
                <a:moveTo>
                  <a:pt x="0" y="0"/>
                </a:moveTo>
                <a:lnTo>
                  <a:pt x="2171700" y="0"/>
                </a:lnTo>
                <a:lnTo>
                  <a:pt x="2171700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30"/>
          <p:cNvSpPr/>
          <p:nvPr/>
        </p:nvSpPr>
        <p:spPr>
          <a:xfrm>
            <a:off x="3536324" y="3809591"/>
            <a:ext cx="21717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Spot high-load devices as they run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3422639" y="410032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2BB673"/>
          </a:solidFill>
          <a:ln/>
        </p:spPr>
      </p:sp>
      <p:sp>
        <p:nvSpPr>
          <p:cNvPr id="37" name="Shape 32"/>
          <p:cNvSpPr/>
          <p:nvPr/>
        </p:nvSpPr>
        <p:spPr>
          <a:xfrm>
            <a:off x="3536138" y="4053148"/>
            <a:ext cx="2185988" cy="333375"/>
          </a:xfrm>
          <a:custGeom>
            <a:avLst/>
            <a:gdLst/>
            <a:ahLst/>
            <a:cxnLst/>
            <a:rect l="l" t="t" r="r" b="b"/>
            <a:pathLst>
              <a:path w="2185988" h="333375">
                <a:moveTo>
                  <a:pt x="0" y="0"/>
                </a:moveTo>
                <a:lnTo>
                  <a:pt x="2185988" y="0"/>
                </a:lnTo>
                <a:lnTo>
                  <a:pt x="2185988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3536138" y="4053148"/>
            <a:ext cx="21859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data into clearer household decisions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6082494" y="2619599"/>
            <a:ext cx="2643188" cy="2219325"/>
          </a:xfrm>
          <a:custGeom>
            <a:avLst/>
            <a:gdLst/>
            <a:ahLst/>
            <a:cxnLst/>
            <a:rect l="l" t="t" r="r" b="b"/>
            <a:pathLst>
              <a:path w="2643188" h="2219325">
                <a:moveTo>
                  <a:pt x="54950" y="0"/>
                </a:moveTo>
                <a:lnTo>
                  <a:pt x="2588237" y="0"/>
                </a:lnTo>
                <a:quadBezTo>
                  <a:pt x="2643188" y="0"/>
                  <a:pt x="2643188" y="54950"/>
                </a:quadBezTo>
                <a:lnTo>
                  <a:pt x="2643188" y="2164375"/>
                </a:lnTo>
                <a:quadBezTo>
                  <a:pt x="2643188" y="2219325"/>
                  <a:pt x="2588237" y="2219325"/>
                </a:quadBezTo>
                <a:lnTo>
                  <a:pt x="54950" y="2219325"/>
                </a:lnTo>
                <a:quadBezTo>
                  <a:pt x="0" y="2219325"/>
                  <a:pt x="0" y="2164375"/>
                </a:quadBezTo>
                <a:lnTo>
                  <a:pt x="0" y="54950"/>
                </a:lnTo>
                <a:quadBezTo>
                  <a:pt x="0" y="0"/>
                  <a:pt x="5495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8572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6254725" y="3109801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76201" y="0"/>
                </a:moveTo>
                <a:lnTo>
                  <a:pt x="180974" y="0"/>
                </a:lnTo>
                <a:quadBezTo>
                  <a:pt x="257175" y="0"/>
                  <a:pt x="257175" y="76201"/>
                </a:quadBezTo>
                <a:lnTo>
                  <a:pt x="257175" y="180974"/>
                </a:lnTo>
                <a:quadBezTo>
                  <a:pt x="257175" y="257175"/>
                  <a:pt x="180974" y="257175"/>
                </a:quadBezTo>
                <a:lnTo>
                  <a:pt x="76201" y="257175"/>
                </a:lnTo>
                <a:quadBezTo>
                  <a:pt x="0" y="257175"/>
                  <a:pt x="0" y="180974"/>
                </a:quadBezTo>
                <a:lnTo>
                  <a:pt x="0" y="76201"/>
                </a:lnTo>
                <a:quadBezTo>
                  <a:pt x="0" y="0"/>
                  <a:pt x="76201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1400" y="3176476"/>
            <a:ext cx="123825" cy="123825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6587319" y="2801744"/>
            <a:ext cx="1966912" cy="176212"/>
          </a:xfrm>
          <a:custGeom>
            <a:avLst/>
            <a:gdLst/>
            <a:ahLst/>
            <a:cxnLst/>
            <a:rect l="l" t="t" r="r" b="b"/>
            <a:pathLst>
              <a:path w="1966912" h="176212">
                <a:moveTo>
                  <a:pt x="0" y="0"/>
                </a:moveTo>
                <a:lnTo>
                  <a:pt x="1966912" y="0"/>
                </a:lnTo>
                <a:lnTo>
                  <a:pt x="1966912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6587319" y="2801744"/>
            <a:ext cx="1966912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Efficiency first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587319" y="3008375"/>
            <a:ext cx="1966912" cy="666750"/>
          </a:xfrm>
          <a:custGeom>
            <a:avLst/>
            <a:gdLst/>
            <a:ahLst/>
            <a:cxnLst/>
            <a:rect l="l" t="t" r="r" b="b"/>
            <a:pathLst>
              <a:path w="1966912" h="666750">
                <a:moveTo>
                  <a:pt x="0" y="0"/>
                </a:moveTo>
                <a:lnTo>
                  <a:pt x="1966912" y="0"/>
                </a:lnTo>
                <a:lnTo>
                  <a:pt x="1966912" y="666750"/>
                </a:lnTo>
                <a:lnTo>
                  <a:pt x="0" y="666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9"/>
          <p:cNvSpPr/>
          <p:nvPr/>
        </p:nvSpPr>
        <p:spPr>
          <a:xfrm>
            <a:off x="6587319" y="3008375"/>
            <a:ext cx="196691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Enable remote control and scheduling that improves efficiency without reducing comfort.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6254725" y="3856993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47" name="Shape 41"/>
          <p:cNvSpPr/>
          <p:nvPr/>
        </p:nvSpPr>
        <p:spPr>
          <a:xfrm>
            <a:off x="6368280" y="3809591"/>
            <a:ext cx="2109788" cy="166688"/>
          </a:xfrm>
          <a:custGeom>
            <a:avLst/>
            <a:gdLst/>
            <a:ahLst/>
            <a:cxnLst/>
            <a:rect l="l" t="t" r="r" b="b"/>
            <a:pathLst>
              <a:path w="2109788" h="166688">
                <a:moveTo>
                  <a:pt x="0" y="0"/>
                </a:moveTo>
                <a:lnTo>
                  <a:pt x="2109788" y="0"/>
                </a:lnTo>
                <a:lnTo>
                  <a:pt x="2109788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8" name="Text 42"/>
          <p:cNvSpPr/>
          <p:nvPr/>
        </p:nvSpPr>
        <p:spPr>
          <a:xfrm>
            <a:off x="6368280" y="3809591"/>
            <a:ext cx="2109788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Adjust appliances from anywhere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6254725" y="4100326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2BB673"/>
          </a:solidFill>
          <a:ln/>
        </p:spPr>
      </p:sp>
      <p:sp>
        <p:nvSpPr>
          <p:cNvPr id="50" name="Shape 44"/>
          <p:cNvSpPr/>
          <p:nvPr/>
        </p:nvSpPr>
        <p:spPr>
          <a:xfrm>
            <a:off x="6368244" y="4053148"/>
            <a:ext cx="2185988" cy="333375"/>
          </a:xfrm>
          <a:custGeom>
            <a:avLst/>
            <a:gdLst/>
            <a:ahLst/>
            <a:cxnLst/>
            <a:rect l="l" t="t" r="r" b="b"/>
            <a:pathLst>
              <a:path w="2185988" h="333375">
                <a:moveTo>
                  <a:pt x="0" y="0"/>
                </a:moveTo>
                <a:lnTo>
                  <a:pt x="2185988" y="0"/>
                </a:lnTo>
                <a:lnTo>
                  <a:pt x="2185988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1" name="Text 45"/>
          <p:cNvSpPr/>
          <p:nvPr/>
        </p:nvSpPr>
        <p:spPr>
          <a:xfrm>
            <a:off x="6368244" y="4053148"/>
            <a:ext cx="2185988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 schedules around real routines</a:t>
            </a:r>
            <a:endParaRPr lang="en-US" sz="9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27BA6939-4E64-0C1E-02C5-DE3772F67D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19100" y="342900"/>
            <a:ext cx="6286500" cy="114300"/>
          </a:xfrm>
          <a:custGeom>
            <a:avLst/>
            <a:gdLst/>
            <a:ahLst/>
            <a:cxnLst/>
            <a:rect l="l" t="t" r="r" b="b"/>
            <a:pathLst>
              <a:path w="6286500" h="114300">
                <a:moveTo>
                  <a:pt x="0" y="0"/>
                </a:moveTo>
                <a:lnTo>
                  <a:pt x="6286500" y="0"/>
                </a:lnTo>
                <a:lnTo>
                  <a:pt x="628650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19100" y="342900"/>
            <a:ext cx="6286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 SCOPE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9100" y="522796"/>
            <a:ext cx="5238750" cy="623888"/>
          </a:xfrm>
          <a:custGeom>
            <a:avLst/>
            <a:gdLst/>
            <a:ahLst/>
            <a:cxnLst/>
            <a:rect l="l" t="t" r="r" b="b"/>
            <a:pathLst>
              <a:path w="5238750" h="623888">
                <a:moveTo>
                  <a:pt x="0" y="0"/>
                </a:moveTo>
                <a:lnTo>
                  <a:pt x="5238750" y="0"/>
                </a:lnTo>
                <a:lnTo>
                  <a:pt x="5238750" y="623888"/>
                </a:lnTo>
                <a:lnTo>
                  <a:pt x="0" y="6238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19100" y="522796"/>
            <a:ext cx="5238750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8696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 and Functional Requirements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9100" y="1212278"/>
            <a:ext cx="5810250" cy="385763"/>
          </a:xfrm>
          <a:custGeom>
            <a:avLst/>
            <a:gdLst/>
            <a:ahLst/>
            <a:cxnLst/>
            <a:rect l="l" t="t" r="r" b="b"/>
            <a:pathLst>
              <a:path w="5810250" h="385763">
                <a:moveTo>
                  <a:pt x="0" y="0"/>
                </a:moveTo>
                <a:lnTo>
                  <a:pt x="5810250" y="0"/>
                </a:lnTo>
                <a:lnTo>
                  <a:pt x="58102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19100" y="1212278"/>
            <a:ext cx="5810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centers on appliance control, context sensing, energy logging, and a user dashboard.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7984" y="1903920"/>
            <a:ext cx="4962525" cy="2895600"/>
          </a:xfrm>
          <a:custGeom>
            <a:avLst/>
            <a:gdLst/>
            <a:ahLst/>
            <a:cxnLst/>
            <a:rect l="l" t="t" r="r" b="b"/>
            <a:pathLst>
              <a:path w="4962525" h="2895600">
                <a:moveTo>
                  <a:pt x="42102" y="0"/>
                </a:moveTo>
                <a:lnTo>
                  <a:pt x="4920423" y="0"/>
                </a:lnTo>
                <a:quadBezTo>
                  <a:pt x="4962525" y="0"/>
                  <a:pt x="4962525" y="42102"/>
                </a:quadBezTo>
                <a:lnTo>
                  <a:pt x="4962525" y="2853498"/>
                </a:lnTo>
                <a:quadBezTo>
                  <a:pt x="4962525" y="2895600"/>
                  <a:pt x="4920423" y="2895600"/>
                </a:quadBezTo>
                <a:lnTo>
                  <a:pt x="42102" y="2895600"/>
                </a:lnTo>
                <a:quadBezTo>
                  <a:pt x="0" y="2895600"/>
                  <a:pt x="0" y="2853498"/>
                </a:quadBezTo>
                <a:lnTo>
                  <a:pt x="0" y="42102"/>
                </a:lnTo>
                <a:quadBezTo>
                  <a:pt x="0" y="0"/>
                  <a:pt x="42102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4762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8650" y="2093342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76200" y="0"/>
                </a:moveTo>
                <a:lnTo>
                  <a:pt x="123825" y="0"/>
                </a:lnTo>
                <a:quadBezTo>
                  <a:pt x="200025" y="0"/>
                  <a:pt x="200025" y="76200"/>
                </a:quadBezTo>
                <a:lnTo>
                  <a:pt x="200025" y="123825"/>
                </a:lnTo>
                <a:quadBezTo>
                  <a:pt x="200025" y="200025"/>
                  <a:pt x="123825" y="200025"/>
                </a:quadBezTo>
                <a:lnTo>
                  <a:pt x="76200" y="200025"/>
                </a:lnTo>
                <a:quadBezTo>
                  <a:pt x="0" y="200025"/>
                  <a:pt x="0" y="123825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" y="2140967"/>
            <a:ext cx="104775" cy="10477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3284" y="2092858"/>
            <a:ext cx="4257675" cy="195263"/>
          </a:xfrm>
          <a:custGeom>
            <a:avLst/>
            <a:gdLst/>
            <a:ahLst/>
            <a:cxnLst/>
            <a:rect l="l" t="t" r="r" b="b"/>
            <a:pathLst>
              <a:path w="4257675" h="195263">
                <a:moveTo>
                  <a:pt x="0" y="0"/>
                </a:moveTo>
                <a:lnTo>
                  <a:pt x="4257675" y="0"/>
                </a:lnTo>
                <a:lnTo>
                  <a:pt x="4257675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913284" y="2092858"/>
            <a:ext cx="42576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Appliance switching and scheduling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13284" y="2325961"/>
            <a:ext cx="4257675" cy="166688"/>
          </a:xfrm>
          <a:custGeom>
            <a:avLst/>
            <a:gdLst/>
            <a:ahLst/>
            <a:cxnLst/>
            <a:rect l="l" t="t" r="r" b="b"/>
            <a:pathLst>
              <a:path w="4257675" h="166688">
                <a:moveTo>
                  <a:pt x="0" y="0"/>
                </a:moveTo>
                <a:lnTo>
                  <a:pt x="4257675" y="0"/>
                </a:lnTo>
                <a:lnTo>
                  <a:pt x="4257675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913284" y="2325961"/>
            <a:ext cx="425767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 control of connected loads with timed operation.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28650" y="2597647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76200" y="0"/>
                </a:moveTo>
                <a:lnTo>
                  <a:pt x="123825" y="0"/>
                </a:lnTo>
                <a:quadBezTo>
                  <a:pt x="200025" y="0"/>
                  <a:pt x="200025" y="76200"/>
                </a:quadBezTo>
                <a:lnTo>
                  <a:pt x="200025" y="123825"/>
                </a:lnTo>
                <a:quadBezTo>
                  <a:pt x="200025" y="200025"/>
                  <a:pt x="123825" y="200025"/>
                </a:quadBezTo>
                <a:lnTo>
                  <a:pt x="76200" y="200025"/>
                </a:lnTo>
                <a:quadBezTo>
                  <a:pt x="0" y="200025"/>
                  <a:pt x="0" y="123825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2645272"/>
            <a:ext cx="104775" cy="10477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13284" y="2596679"/>
            <a:ext cx="4257675" cy="390525"/>
          </a:xfrm>
          <a:custGeom>
            <a:avLst/>
            <a:gdLst/>
            <a:ahLst/>
            <a:cxnLst/>
            <a:rect l="l" t="t" r="r" b="b"/>
            <a:pathLst>
              <a:path w="4257675" h="390525">
                <a:moveTo>
                  <a:pt x="0" y="0"/>
                </a:moveTo>
                <a:lnTo>
                  <a:pt x="4257675" y="0"/>
                </a:lnTo>
                <a:lnTo>
                  <a:pt x="4257675" y="390525"/>
                </a:lnTo>
                <a:lnTo>
                  <a:pt x="0" y="3905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913284" y="2596679"/>
            <a:ext cx="42576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Sensor-based occupancy and environment sensing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913284" y="3024783"/>
            <a:ext cx="4257675" cy="333375"/>
          </a:xfrm>
          <a:custGeom>
            <a:avLst/>
            <a:gdLst/>
            <a:ahLst/>
            <a:cxnLst/>
            <a:rect l="l" t="t" r="r" b="b"/>
            <a:pathLst>
              <a:path w="4257675" h="333375">
                <a:moveTo>
                  <a:pt x="0" y="0"/>
                </a:moveTo>
                <a:lnTo>
                  <a:pt x="4257675" y="0"/>
                </a:lnTo>
                <a:lnTo>
                  <a:pt x="4257675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913284" y="3024783"/>
            <a:ext cx="42576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 presence, temperature, and room conditions for context-aware control.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28650" y="3463379"/>
            <a:ext cx="200025" cy="200025"/>
          </a:xfrm>
          <a:custGeom>
            <a:avLst/>
            <a:gdLst/>
            <a:ahLst/>
            <a:cxnLst/>
            <a:rect l="l" t="t" r="r" b="b"/>
            <a:pathLst>
              <a:path w="200025" h="200025">
                <a:moveTo>
                  <a:pt x="76200" y="0"/>
                </a:moveTo>
                <a:lnTo>
                  <a:pt x="123825" y="0"/>
                </a:lnTo>
                <a:quadBezTo>
                  <a:pt x="200025" y="0"/>
                  <a:pt x="200025" y="76200"/>
                </a:quadBezTo>
                <a:lnTo>
                  <a:pt x="200025" y="123825"/>
                </a:lnTo>
                <a:quadBezTo>
                  <a:pt x="200025" y="200025"/>
                  <a:pt x="123825" y="200025"/>
                </a:quadBezTo>
                <a:lnTo>
                  <a:pt x="76200" y="200025"/>
                </a:lnTo>
                <a:quadBezTo>
                  <a:pt x="0" y="200025"/>
                  <a:pt x="0" y="123825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3511004"/>
            <a:ext cx="104775" cy="104775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13284" y="3462896"/>
            <a:ext cx="4257675" cy="195263"/>
          </a:xfrm>
          <a:custGeom>
            <a:avLst/>
            <a:gdLst/>
            <a:ahLst/>
            <a:cxnLst/>
            <a:rect l="l" t="t" r="r" b="b"/>
            <a:pathLst>
              <a:path w="4257675" h="195263">
                <a:moveTo>
                  <a:pt x="0" y="0"/>
                </a:moveTo>
                <a:lnTo>
                  <a:pt x="4257675" y="0"/>
                </a:lnTo>
                <a:lnTo>
                  <a:pt x="4257675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913284" y="3462896"/>
            <a:ext cx="4257675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data acquisition and logging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913284" y="3695998"/>
            <a:ext cx="4257675" cy="166688"/>
          </a:xfrm>
          <a:custGeom>
            <a:avLst/>
            <a:gdLst/>
            <a:ahLst/>
            <a:cxnLst/>
            <a:rect l="l" t="t" r="r" b="b"/>
            <a:pathLst>
              <a:path w="4257675" h="166688">
                <a:moveTo>
                  <a:pt x="0" y="0"/>
                </a:moveTo>
                <a:lnTo>
                  <a:pt x="4257675" y="0"/>
                </a:lnTo>
                <a:lnTo>
                  <a:pt x="4257675" y="166688"/>
                </a:lnTo>
                <a:lnTo>
                  <a:pt x="0" y="1666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913284" y="3695998"/>
            <a:ext cx="425767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 usage data and retain a clean operating record for review.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647209" y="1902991"/>
            <a:ext cx="3076575" cy="2000250"/>
          </a:xfrm>
          <a:custGeom>
            <a:avLst/>
            <a:gdLst/>
            <a:ahLst/>
            <a:cxnLst/>
            <a:rect l="l" t="t" r="r" b="b"/>
            <a:pathLst>
              <a:path w="3076575" h="2000250">
                <a:moveTo>
                  <a:pt x="60968" y="0"/>
                </a:moveTo>
                <a:lnTo>
                  <a:pt x="3015607" y="0"/>
                </a:lnTo>
                <a:quadBezTo>
                  <a:pt x="3076575" y="0"/>
                  <a:pt x="3076575" y="60968"/>
                </a:quadBezTo>
                <a:lnTo>
                  <a:pt x="3076575" y="1939282"/>
                </a:lnTo>
                <a:quadBezTo>
                  <a:pt x="3076575" y="2000250"/>
                  <a:pt x="3015607" y="2000250"/>
                </a:quadBezTo>
                <a:lnTo>
                  <a:pt x="60968" y="2000250"/>
                </a:lnTo>
                <a:quadBezTo>
                  <a:pt x="0" y="2000250"/>
                  <a:pt x="0" y="1939282"/>
                </a:quadBezTo>
                <a:lnTo>
                  <a:pt x="0" y="60968"/>
                </a:lnTo>
                <a:quadBezTo>
                  <a:pt x="0" y="0"/>
                  <a:pt x="60968" y="0"/>
                </a:quadBez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32" name="Shape 26"/>
          <p:cNvSpPr/>
          <p:nvPr/>
        </p:nvSpPr>
        <p:spPr>
          <a:xfrm>
            <a:off x="5837709" y="2093342"/>
            <a:ext cx="2695575" cy="114300"/>
          </a:xfrm>
          <a:custGeom>
            <a:avLst/>
            <a:gdLst/>
            <a:ahLst/>
            <a:cxnLst/>
            <a:rect l="l" t="t" r="r" b="b"/>
            <a:pathLst>
              <a:path w="2695575" h="114300">
                <a:moveTo>
                  <a:pt x="0" y="0"/>
                </a:moveTo>
                <a:lnTo>
                  <a:pt x="2695575" y="0"/>
                </a:lnTo>
                <a:lnTo>
                  <a:pt x="2695575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5837709" y="2093342"/>
            <a:ext cx="26955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6957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8FD3D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VIEW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5836594" y="2302892"/>
            <a:ext cx="2000250" cy="876300"/>
          </a:xfrm>
          <a:custGeom>
            <a:avLst/>
            <a:gdLst/>
            <a:ahLst/>
            <a:cxnLst/>
            <a:rect l="l" t="t" r="r" b="b"/>
            <a:pathLst>
              <a:path w="2000250" h="876300">
                <a:moveTo>
                  <a:pt x="0" y="0"/>
                </a:moveTo>
                <a:lnTo>
                  <a:pt x="2000250" y="0"/>
                </a:lnTo>
                <a:lnTo>
                  <a:pt x="2000250" y="876300"/>
                </a:lnTo>
                <a:lnTo>
                  <a:pt x="0" y="876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5836594" y="2302892"/>
            <a:ext cx="20002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single control layer connects sensing, action, and logging.</a:t>
            </a:r>
            <a:endParaRPr lang="en-US" sz="900" dirty="0"/>
          </a:p>
        </p:txBody>
      </p:sp>
      <p:sp>
        <p:nvSpPr>
          <p:cNvPr id="36" name="Shape 30"/>
          <p:cNvSpPr/>
          <p:nvPr/>
        </p:nvSpPr>
        <p:spPr>
          <a:xfrm>
            <a:off x="5836594" y="3273922"/>
            <a:ext cx="2047875" cy="719137"/>
          </a:xfrm>
          <a:custGeom>
            <a:avLst/>
            <a:gdLst/>
            <a:ahLst/>
            <a:cxnLst/>
            <a:rect l="l" t="t" r="r" b="b"/>
            <a:pathLst>
              <a:path w="2047875" h="719137">
                <a:moveTo>
                  <a:pt x="0" y="0"/>
                </a:moveTo>
                <a:lnTo>
                  <a:pt x="2047875" y="0"/>
                </a:lnTo>
                <a:lnTo>
                  <a:pt x="2047875" y="719137"/>
                </a:lnTo>
                <a:lnTo>
                  <a:pt x="0" y="719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31"/>
          <p:cNvSpPr/>
          <p:nvPr/>
        </p:nvSpPr>
        <p:spPr>
          <a:xfrm>
            <a:off x="5836594" y="3273922"/>
            <a:ext cx="2047875" cy="71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dashboard is the operator interface, while sensors and controllers provide the feedback loop.</a:t>
            </a:r>
            <a:endParaRPr lang="en-US" sz="900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6594" y="4144938"/>
            <a:ext cx="104775" cy="104775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6009122" y="4126836"/>
            <a:ext cx="2252663" cy="152400"/>
          </a:xfrm>
          <a:custGeom>
            <a:avLst/>
            <a:gdLst/>
            <a:ahLst/>
            <a:cxnLst/>
            <a:rect l="l" t="t" r="r" b="b"/>
            <a:pathLst>
              <a:path w="2252663" h="152400">
                <a:moveTo>
                  <a:pt x="0" y="0"/>
                </a:moveTo>
                <a:lnTo>
                  <a:pt x="2252663" y="0"/>
                </a:lnTo>
                <a:lnTo>
                  <a:pt x="2252663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6009122" y="4126836"/>
            <a:ext cx="22526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and web access for user control</a:t>
            </a:r>
            <a:endParaRPr lang="en-US" sz="9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6594" y="4375434"/>
            <a:ext cx="104775" cy="104775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6009159" y="4355902"/>
            <a:ext cx="2524125" cy="309562"/>
          </a:xfrm>
          <a:custGeom>
            <a:avLst/>
            <a:gdLst/>
            <a:ahLst/>
            <a:cxnLst/>
            <a:rect l="l" t="t" r="r" b="b"/>
            <a:pathLst>
              <a:path w="2524125" h="309562">
                <a:moveTo>
                  <a:pt x="0" y="0"/>
                </a:moveTo>
                <a:lnTo>
                  <a:pt x="2524125" y="0"/>
                </a:lnTo>
                <a:lnTo>
                  <a:pt x="2524125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5"/>
          <p:cNvSpPr/>
          <p:nvPr/>
        </p:nvSpPr>
        <p:spPr>
          <a:xfrm>
            <a:off x="6009159" y="4355902"/>
            <a:ext cx="2524125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visibility across devices and events</a:t>
            </a:r>
            <a:endParaRPr lang="en-US" sz="900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6594" y="4760231"/>
            <a:ext cx="104775" cy="104775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6009159" y="4740697"/>
            <a:ext cx="2524125" cy="309562"/>
          </a:xfrm>
          <a:custGeom>
            <a:avLst/>
            <a:gdLst/>
            <a:ahLst/>
            <a:cxnLst/>
            <a:rect l="l" t="t" r="r" b="b"/>
            <a:pathLst>
              <a:path w="2524125" h="309562">
                <a:moveTo>
                  <a:pt x="0" y="0"/>
                </a:moveTo>
                <a:lnTo>
                  <a:pt x="2524125" y="0"/>
                </a:lnTo>
                <a:lnTo>
                  <a:pt x="2524125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37"/>
          <p:cNvSpPr/>
          <p:nvPr/>
        </p:nvSpPr>
        <p:spPr>
          <a:xfrm>
            <a:off x="6009159" y="4740697"/>
            <a:ext cx="2524125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for engineering review and implementation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>
            <a:off x="5647209" y="4037670"/>
            <a:ext cx="3076575" cy="762000"/>
          </a:xfrm>
          <a:custGeom>
            <a:avLst/>
            <a:gdLst/>
            <a:ahLst/>
            <a:cxnLst/>
            <a:rect l="l" t="t" r="r" b="b"/>
            <a:pathLst>
              <a:path w="3076575" h="762000">
                <a:moveTo>
                  <a:pt x="137160" y="0"/>
                </a:moveTo>
                <a:lnTo>
                  <a:pt x="2939415" y="0"/>
                </a:lnTo>
                <a:quadBezTo>
                  <a:pt x="3076575" y="0"/>
                  <a:pt x="3076575" y="137160"/>
                </a:quadBezTo>
                <a:lnTo>
                  <a:pt x="3076575" y="624840"/>
                </a:lnTo>
                <a:quadBezTo>
                  <a:pt x="3076575" y="762000"/>
                  <a:pt x="2939415" y="762000"/>
                </a:quadBezTo>
                <a:lnTo>
                  <a:pt x="137160" y="762000"/>
                </a:lnTo>
                <a:quadBezTo>
                  <a:pt x="0" y="762000"/>
                  <a:pt x="0" y="624840"/>
                </a:quadBezTo>
                <a:lnTo>
                  <a:pt x="0" y="137160"/>
                </a:lnTo>
                <a:quadBezTo>
                  <a:pt x="0" y="0"/>
                  <a:pt x="13716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14300" dist="47625" dir="2700000" algn="bl" rotWithShape="0">
              <a:srgbClr val="0B2E59">
                <a:alpha val="5882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5808019" y="4170089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72189" y="0"/>
                </a:moveTo>
                <a:lnTo>
                  <a:pt x="108786" y="0"/>
                </a:lnTo>
                <a:quadBezTo>
                  <a:pt x="180975" y="0"/>
                  <a:pt x="180975" y="72189"/>
                </a:quadBezTo>
                <a:lnTo>
                  <a:pt x="180975" y="108786"/>
                </a:lnTo>
                <a:quadBezTo>
                  <a:pt x="180975" y="180975"/>
                  <a:pt x="108786" y="180975"/>
                </a:quadBezTo>
                <a:lnTo>
                  <a:pt x="72189" y="180975"/>
                </a:lnTo>
                <a:quadBezTo>
                  <a:pt x="0" y="180975"/>
                  <a:pt x="0" y="108786"/>
                </a:quadBezTo>
                <a:lnTo>
                  <a:pt x="0" y="72189"/>
                </a:lnTo>
                <a:quadBezTo>
                  <a:pt x="0" y="0"/>
                  <a:pt x="72189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0880" y="4212952"/>
            <a:ext cx="95250" cy="95250"/>
          </a:xfrm>
          <a:prstGeom prst="rect">
            <a:avLst/>
          </a:prstGeom>
        </p:spPr>
      </p:pic>
      <p:sp>
        <p:nvSpPr>
          <p:cNvPr id="50" name="Shape 40"/>
          <p:cNvSpPr/>
          <p:nvPr/>
        </p:nvSpPr>
        <p:spPr>
          <a:xfrm>
            <a:off x="6066309" y="4171020"/>
            <a:ext cx="2495550" cy="495300"/>
          </a:xfrm>
          <a:custGeom>
            <a:avLst/>
            <a:gdLst/>
            <a:ahLst/>
            <a:cxnLst/>
            <a:rect l="l" t="t" r="r" b="b"/>
            <a:pathLst>
              <a:path w="2495550" h="495300">
                <a:moveTo>
                  <a:pt x="0" y="0"/>
                </a:moveTo>
                <a:lnTo>
                  <a:pt x="2495550" y="0"/>
                </a:lnTo>
                <a:lnTo>
                  <a:pt x="2495550" y="495300"/>
                </a:lnTo>
                <a:lnTo>
                  <a:pt x="0" y="495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1" name="Text 41"/>
          <p:cNvSpPr/>
          <p:nvPr/>
        </p:nvSpPr>
        <p:spPr>
          <a:xfrm>
            <a:off x="6066309" y="4171020"/>
            <a:ext cx="2495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08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Together, these requirements define a closed-loop smart-home hub: sense, decide, act, and record.</a:t>
            </a:r>
            <a:endParaRPr lang="en-US" sz="9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A8FC7094-9BE9-E8B0-C258-C2F5302C4B5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69FE43-B779-F715-199E-7277E3C4B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599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5" name="Shape 2"/>
          <p:cNvSpPr/>
          <p:nvPr/>
        </p:nvSpPr>
        <p:spPr>
          <a:xfrm>
            <a:off x="342900" y="32478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6" name="Shape 3"/>
          <p:cNvSpPr/>
          <p:nvPr/>
        </p:nvSpPr>
        <p:spPr>
          <a:xfrm>
            <a:off x="485235" y="305749"/>
            <a:ext cx="1419225" cy="123825"/>
          </a:xfrm>
          <a:custGeom>
            <a:avLst/>
            <a:gdLst/>
            <a:ahLst/>
            <a:cxnLst/>
            <a:rect l="l" t="t" r="r" b="b"/>
            <a:pathLst>
              <a:path w="1419225" h="123825">
                <a:moveTo>
                  <a:pt x="0" y="0"/>
                </a:moveTo>
                <a:lnTo>
                  <a:pt x="1419225" y="0"/>
                </a:lnTo>
                <a:lnTo>
                  <a:pt x="1419225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85235" y="305749"/>
            <a:ext cx="14192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42900" y="496528"/>
            <a:ext cx="5715000" cy="661987"/>
          </a:xfrm>
          <a:custGeom>
            <a:avLst/>
            <a:gdLst/>
            <a:ahLst/>
            <a:cxnLst/>
            <a:rect l="l" t="t" r="r" b="b"/>
            <a:pathLst>
              <a:path w="5715000" h="661987">
                <a:moveTo>
                  <a:pt x="0" y="0"/>
                </a:moveTo>
                <a:lnTo>
                  <a:pt x="5715000" y="0"/>
                </a:lnTo>
                <a:lnTo>
                  <a:pt x="5715000" y="661987"/>
                </a:lnTo>
                <a:lnTo>
                  <a:pt x="0" y="6619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42900" y="496528"/>
            <a:ext cx="5715000" cy="661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435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Existing IoT approaches reveal the gap this project addresses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42900" y="1224521"/>
            <a:ext cx="6429375" cy="381000"/>
          </a:xfrm>
          <a:custGeom>
            <a:avLst/>
            <a:gdLst/>
            <a:ahLst/>
            <a:cxnLst/>
            <a:rect l="l" t="t" r="r" b="b"/>
            <a:pathLst>
              <a:path w="6429375" h="381000">
                <a:moveTo>
                  <a:pt x="0" y="0"/>
                </a:moveTo>
                <a:lnTo>
                  <a:pt x="6429375" y="0"/>
                </a:lnTo>
                <a:lnTo>
                  <a:pt x="6429375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42900" y="1224521"/>
            <a:ext cx="6429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focused comparison of smart-home control, energy intelligence, and cloud-assisted automation shows where the proposed contribution becomes relevant.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2900" y="1891474"/>
            <a:ext cx="4124325" cy="2276475"/>
          </a:xfrm>
          <a:custGeom>
            <a:avLst/>
            <a:gdLst/>
            <a:ahLst/>
            <a:cxnLst/>
            <a:rect l="l" t="t" r="r" b="b"/>
            <a:pathLst>
              <a:path w="4124325" h="2276475">
                <a:moveTo>
                  <a:pt x="53565" y="0"/>
                </a:moveTo>
                <a:lnTo>
                  <a:pt x="4070760" y="0"/>
                </a:lnTo>
                <a:quadBezTo>
                  <a:pt x="4124325" y="0"/>
                  <a:pt x="4124325" y="53565"/>
                </a:quadBezTo>
                <a:lnTo>
                  <a:pt x="4124325" y="2222910"/>
                </a:lnTo>
                <a:quadBezTo>
                  <a:pt x="4124325" y="2276475"/>
                  <a:pt x="4070760" y="2276475"/>
                </a:quadBezTo>
                <a:lnTo>
                  <a:pt x="53565" y="2276475"/>
                </a:lnTo>
                <a:quadBezTo>
                  <a:pt x="0" y="2276475"/>
                  <a:pt x="0" y="2222910"/>
                </a:quadBezTo>
                <a:lnTo>
                  <a:pt x="0" y="53565"/>
                </a:lnTo>
                <a:quadBezTo>
                  <a:pt x="0" y="0"/>
                  <a:pt x="53565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47625" dir="2700000" algn="bl" rotWithShape="0">
              <a:srgbClr val="0B2E59">
                <a:alpha val="5882"/>
              </a:srgbClr>
            </a:outerShdw>
          </a:effectLst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99854"/>
            <a:ext cx="133350" cy="1333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3182" y="2071279"/>
            <a:ext cx="1824037" cy="190500"/>
          </a:xfrm>
          <a:custGeom>
            <a:avLst/>
            <a:gdLst/>
            <a:ahLst/>
            <a:cxnLst/>
            <a:rect l="l" t="t" r="r" b="b"/>
            <a:pathLst>
              <a:path w="1824037" h="190500">
                <a:moveTo>
                  <a:pt x="0" y="0"/>
                </a:moveTo>
                <a:lnTo>
                  <a:pt x="1824037" y="0"/>
                </a:lnTo>
                <a:lnTo>
                  <a:pt x="1824037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733182" y="2071279"/>
            <a:ext cx="18240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9130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Existing approaches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33400" y="2376060"/>
            <a:ext cx="3743325" cy="171450"/>
          </a:xfrm>
          <a:custGeom>
            <a:avLst/>
            <a:gdLst/>
            <a:ahLst/>
            <a:cxnLst/>
            <a:rect l="l" t="t" r="r" b="b"/>
            <a:pathLst>
              <a:path w="3743325" h="171450">
                <a:moveTo>
                  <a:pt x="0" y="0"/>
                </a:moveTo>
                <a:lnTo>
                  <a:pt x="3743325" y="0"/>
                </a:lnTo>
                <a:lnTo>
                  <a:pt x="3743325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533400" y="2376060"/>
            <a:ext cx="37433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literature clusters into three recurring directions:</a:t>
            </a:r>
            <a:endParaRPr lang="en-US" sz="9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677046"/>
            <a:ext cx="95250" cy="952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95362" y="2643596"/>
            <a:ext cx="2428875" cy="176212"/>
          </a:xfrm>
          <a:custGeom>
            <a:avLst/>
            <a:gdLst/>
            <a:ahLst/>
            <a:cxnLst/>
            <a:rect l="l" t="t" r="r" b="b"/>
            <a:pathLst>
              <a:path w="2428875" h="176212">
                <a:moveTo>
                  <a:pt x="0" y="0"/>
                </a:moveTo>
                <a:lnTo>
                  <a:pt x="2428875" y="0"/>
                </a:lnTo>
                <a:lnTo>
                  <a:pt x="2428875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695362" y="2643596"/>
            <a:ext cx="2428875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IoT smart-home control frameworks</a:t>
            </a:r>
            <a:endParaRPr lang="en-US" sz="9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938760"/>
            <a:ext cx="95250" cy="9525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95716" y="2905310"/>
            <a:ext cx="3038475" cy="176212"/>
          </a:xfrm>
          <a:custGeom>
            <a:avLst/>
            <a:gdLst/>
            <a:ahLst/>
            <a:cxnLst/>
            <a:rect l="l" t="t" r="r" b="b"/>
            <a:pathLst>
              <a:path w="3038475" h="176212">
                <a:moveTo>
                  <a:pt x="0" y="0"/>
                </a:moveTo>
                <a:lnTo>
                  <a:pt x="3038475" y="0"/>
                </a:lnTo>
                <a:lnTo>
                  <a:pt x="3038475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695716" y="2905310"/>
            <a:ext cx="3038475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Energy-monitoring and load-forecast studies</a:t>
            </a:r>
            <a:endParaRPr lang="en-US" sz="9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200474"/>
            <a:ext cx="95250" cy="9525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95623" y="3167024"/>
            <a:ext cx="3086100" cy="176212"/>
          </a:xfrm>
          <a:custGeom>
            <a:avLst/>
            <a:gdLst/>
            <a:ahLst/>
            <a:cxnLst/>
            <a:rect l="l" t="t" r="r" b="b"/>
            <a:pathLst>
              <a:path w="3086100" h="176212">
                <a:moveTo>
                  <a:pt x="0" y="0"/>
                </a:moveTo>
                <a:lnTo>
                  <a:pt x="3086100" y="0"/>
                </a:lnTo>
                <a:lnTo>
                  <a:pt x="3086100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19"/>
          <p:cNvSpPr/>
          <p:nvPr/>
        </p:nvSpPr>
        <p:spPr>
          <a:xfrm>
            <a:off x="695623" y="3167024"/>
            <a:ext cx="3086100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Cloud-assisted home automation approaches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533400" y="3582852"/>
            <a:ext cx="3743325" cy="414338"/>
          </a:xfrm>
          <a:custGeom>
            <a:avLst/>
            <a:gdLst/>
            <a:ahLst/>
            <a:cxnLst/>
            <a:rect l="l" t="t" r="r" b="b"/>
            <a:pathLst>
              <a:path w="3743325" h="414338">
                <a:moveTo>
                  <a:pt x="0" y="0"/>
                </a:moveTo>
                <a:lnTo>
                  <a:pt x="3743325" y="0"/>
                </a:lnTo>
                <a:lnTo>
                  <a:pt x="3743325" y="414338"/>
                </a:lnTo>
                <a:lnTo>
                  <a:pt x="0" y="4143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533400" y="3582852"/>
            <a:ext cx="374332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on individual functions, but rarely unified into one end-to-end framework.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676775" y="1891474"/>
            <a:ext cx="4124325" cy="2276475"/>
          </a:xfrm>
          <a:custGeom>
            <a:avLst/>
            <a:gdLst/>
            <a:ahLst/>
            <a:cxnLst/>
            <a:rect l="l" t="t" r="r" b="b"/>
            <a:pathLst>
              <a:path w="4124325" h="2276475">
                <a:moveTo>
                  <a:pt x="53565" y="0"/>
                </a:moveTo>
                <a:lnTo>
                  <a:pt x="4070760" y="0"/>
                </a:lnTo>
                <a:quadBezTo>
                  <a:pt x="4124325" y="0"/>
                  <a:pt x="4124325" y="53565"/>
                </a:quadBezTo>
                <a:lnTo>
                  <a:pt x="4124325" y="2222910"/>
                </a:lnTo>
                <a:quadBezTo>
                  <a:pt x="4124325" y="2276475"/>
                  <a:pt x="4070760" y="2276475"/>
                </a:quadBezTo>
                <a:lnTo>
                  <a:pt x="53565" y="2276475"/>
                </a:lnTo>
                <a:quadBezTo>
                  <a:pt x="0" y="2276475"/>
                  <a:pt x="0" y="2222910"/>
                </a:quadBezTo>
                <a:lnTo>
                  <a:pt x="0" y="53565"/>
                </a:lnTo>
                <a:quadBezTo>
                  <a:pt x="0" y="0"/>
                  <a:pt x="53565" y="0"/>
                </a:quadBezTo>
                <a:close/>
              </a:path>
            </a:pathLst>
          </a:custGeom>
          <a:solidFill>
            <a:srgbClr val="0B2E59"/>
          </a:solidFill>
          <a:ln/>
          <a:effectLst>
            <a:outerShdw blurRad="152400" dist="66675" dir="2700000" algn="bl" rotWithShape="0">
              <a:srgbClr val="0B2E59">
                <a:alpha val="14118"/>
              </a:srgbClr>
            </a:outerShdw>
          </a:effectLst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7275" y="2099854"/>
            <a:ext cx="133350" cy="13335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5067691" y="2071279"/>
            <a:ext cx="1666875" cy="190500"/>
          </a:xfrm>
          <a:custGeom>
            <a:avLst/>
            <a:gdLst/>
            <a:ahLst/>
            <a:cxnLst/>
            <a:rect l="l" t="t" r="r" b="b"/>
            <a:pathLst>
              <a:path w="1666875" h="190500">
                <a:moveTo>
                  <a:pt x="0" y="0"/>
                </a:moveTo>
                <a:lnTo>
                  <a:pt x="1666875" y="0"/>
                </a:lnTo>
                <a:lnTo>
                  <a:pt x="1666875" y="190500"/>
                </a:lnTo>
                <a:lnTo>
                  <a:pt x="0" y="1905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5067691" y="2071279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9130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 and relevance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867275" y="2374627"/>
            <a:ext cx="3743325" cy="347663"/>
          </a:xfrm>
          <a:custGeom>
            <a:avLst/>
            <a:gdLst/>
            <a:ahLst/>
            <a:cxnLst/>
            <a:rect l="l" t="t" r="r" b="b"/>
            <a:pathLst>
              <a:path w="3743325" h="347663">
                <a:moveTo>
                  <a:pt x="0" y="0"/>
                </a:moveTo>
                <a:lnTo>
                  <a:pt x="3743325" y="0"/>
                </a:lnTo>
                <a:lnTo>
                  <a:pt x="3743325" y="347663"/>
                </a:lnTo>
                <a:lnTo>
                  <a:pt x="0" y="3476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6"/>
          <p:cNvSpPr/>
          <p:nvPr/>
        </p:nvSpPr>
        <p:spPr>
          <a:xfrm>
            <a:off x="4867275" y="2374627"/>
            <a:ext cx="3743325" cy="347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261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proposed contribution is relevant because the literature is fragmented:</a:t>
            </a:r>
            <a:endParaRPr lang="en-US" sz="9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7275" y="2850393"/>
            <a:ext cx="95250" cy="95250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5029200" y="2816833"/>
            <a:ext cx="3581400" cy="352425"/>
          </a:xfrm>
          <a:custGeom>
            <a:avLst/>
            <a:gdLst/>
            <a:ahLst/>
            <a:cxnLst/>
            <a:rect l="l" t="t" r="r" b="b"/>
            <a:pathLst>
              <a:path w="3581400" h="352425">
                <a:moveTo>
                  <a:pt x="0" y="0"/>
                </a:moveTo>
                <a:lnTo>
                  <a:pt x="3581400" y="0"/>
                </a:lnTo>
                <a:lnTo>
                  <a:pt x="3581400" y="352425"/>
                </a:lnTo>
                <a:lnTo>
                  <a:pt x="0" y="3524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28"/>
          <p:cNvSpPr/>
          <p:nvPr/>
        </p:nvSpPr>
        <p:spPr>
          <a:xfrm>
            <a:off x="5029200" y="2816833"/>
            <a:ext cx="3581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Control, sensing, and optimization are often treated separately.</a:t>
            </a:r>
            <a:endParaRPr lang="en-US" sz="9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7275" y="3288097"/>
            <a:ext cx="95250" cy="9525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5029200" y="3254536"/>
            <a:ext cx="3581400" cy="352425"/>
          </a:xfrm>
          <a:custGeom>
            <a:avLst/>
            <a:gdLst/>
            <a:ahLst/>
            <a:cxnLst/>
            <a:rect l="l" t="t" r="r" b="b"/>
            <a:pathLst>
              <a:path w="3581400" h="352425">
                <a:moveTo>
                  <a:pt x="0" y="0"/>
                </a:moveTo>
                <a:lnTo>
                  <a:pt x="3581400" y="0"/>
                </a:lnTo>
                <a:lnTo>
                  <a:pt x="3581400" y="352425"/>
                </a:lnTo>
                <a:lnTo>
                  <a:pt x="0" y="3524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0"/>
          <p:cNvSpPr/>
          <p:nvPr/>
        </p:nvSpPr>
        <p:spPr>
          <a:xfrm>
            <a:off x="5029200" y="3254536"/>
            <a:ext cx="3581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insight and automation are not always linked in one workflow.</a:t>
            </a:r>
            <a:endParaRPr lang="en-US" sz="9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7275" y="3725800"/>
            <a:ext cx="95250" cy="95250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5029200" y="3692241"/>
            <a:ext cx="3581400" cy="352425"/>
          </a:xfrm>
          <a:custGeom>
            <a:avLst/>
            <a:gdLst/>
            <a:ahLst/>
            <a:cxnLst/>
            <a:rect l="l" t="t" r="r" b="b"/>
            <a:pathLst>
              <a:path w="3581400" h="352425">
                <a:moveTo>
                  <a:pt x="0" y="0"/>
                </a:moveTo>
                <a:lnTo>
                  <a:pt x="3581400" y="0"/>
                </a:lnTo>
                <a:lnTo>
                  <a:pt x="3581400" y="352425"/>
                </a:lnTo>
                <a:lnTo>
                  <a:pt x="0" y="3524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2"/>
          <p:cNvSpPr/>
          <p:nvPr/>
        </p:nvSpPr>
        <p:spPr>
          <a:xfrm>
            <a:off x="5029200" y="3692241"/>
            <a:ext cx="35814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project positions a more integrated smart-home framework.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342900" y="4358171"/>
            <a:ext cx="8458200" cy="519112"/>
          </a:xfrm>
          <a:custGeom>
            <a:avLst/>
            <a:gdLst/>
            <a:ahLst/>
            <a:cxnLst/>
            <a:rect l="l" t="t" r="r" b="b"/>
            <a:pathLst>
              <a:path w="8458200" h="519112">
                <a:moveTo>
                  <a:pt x="184560" y="0"/>
                </a:moveTo>
                <a:lnTo>
                  <a:pt x="8273640" y="0"/>
                </a:lnTo>
                <a:quadBezTo>
                  <a:pt x="8458200" y="0"/>
                  <a:pt x="8458200" y="184560"/>
                </a:quadBezTo>
                <a:lnTo>
                  <a:pt x="8458200" y="334552"/>
                </a:lnTo>
                <a:quadBezTo>
                  <a:pt x="8458200" y="519112"/>
                  <a:pt x="8273640" y="519112"/>
                </a:quadBezTo>
                <a:lnTo>
                  <a:pt x="184560" y="519112"/>
                </a:lnTo>
                <a:quadBezTo>
                  <a:pt x="0" y="519112"/>
                  <a:pt x="0" y="334552"/>
                </a:quadBezTo>
                <a:lnTo>
                  <a:pt x="0" y="184560"/>
                </a:lnTo>
                <a:quadBezTo>
                  <a:pt x="0" y="0"/>
                  <a:pt x="184560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6250" y="4560578"/>
            <a:ext cx="114300" cy="114300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647849" y="4539146"/>
            <a:ext cx="466725" cy="157163"/>
          </a:xfrm>
          <a:custGeom>
            <a:avLst/>
            <a:gdLst/>
            <a:ahLst/>
            <a:cxnLst/>
            <a:rect l="l" t="t" r="r" b="b"/>
            <a:pathLst>
              <a:path w="466725" h="157163">
                <a:moveTo>
                  <a:pt x="0" y="0"/>
                </a:moveTo>
                <a:lnTo>
                  <a:pt x="466725" y="0"/>
                </a:lnTo>
                <a:lnTo>
                  <a:pt x="466725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37"/>
          <p:cNvSpPr/>
          <p:nvPr/>
        </p:nvSpPr>
        <p:spPr>
          <a:xfrm>
            <a:off x="647849" y="4539146"/>
            <a:ext cx="4667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Verdict</a:t>
            </a:r>
            <a:endParaRPr lang="en-US" sz="900" dirty="0"/>
          </a:p>
        </p:txBody>
      </p:sp>
      <p:sp>
        <p:nvSpPr>
          <p:cNvPr id="50" name="Shape 38"/>
          <p:cNvSpPr/>
          <p:nvPr/>
        </p:nvSpPr>
        <p:spPr>
          <a:xfrm>
            <a:off x="2571750" y="4462946"/>
            <a:ext cx="6096000" cy="309562"/>
          </a:xfrm>
          <a:custGeom>
            <a:avLst/>
            <a:gdLst/>
            <a:ahLst/>
            <a:cxnLst/>
            <a:rect l="l" t="t" r="r" b="b"/>
            <a:pathLst>
              <a:path w="6096000" h="309562">
                <a:moveTo>
                  <a:pt x="0" y="0"/>
                </a:moveTo>
                <a:lnTo>
                  <a:pt x="6096000" y="0"/>
                </a:lnTo>
                <a:lnTo>
                  <a:pt x="6096000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1" name="Text 39"/>
          <p:cNvSpPr/>
          <p:nvPr/>
        </p:nvSpPr>
        <p:spPr>
          <a:xfrm>
            <a:off x="2571750" y="4462946"/>
            <a:ext cx="6096000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review motivates a project that connects smart-home control, energy awareness, and cloud-assisted automation in one coherent framework.</a:t>
            </a:r>
            <a:endParaRPr lang="en-US" sz="900" dirty="0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18B2A81-EC5A-1641-0EE1-C5B1659514F9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381000" y="343849"/>
            <a:ext cx="8382000" cy="123825"/>
          </a:xfrm>
          <a:custGeom>
            <a:avLst/>
            <a:gdLst/>
            <a:ahLst/>
            <a:cxnLst/>
            <a:rect l="l" t="t" r="r" b="b"/>
            <a:pathLst>
              <a:path w="8382000" h="123825">
                <a:moveTo>
                  <a:pt x="0" y="0"/>
                </a:moveTo>
                <a:lnTo>
                  <a:pt x="8382000" y="0"/>
                </a:lnTo>
                <a:lnTo>
                  <a:pt x="838200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343849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1000" y="535093"/>
            <a:ext cx="5715000" cy="314325"/>
          </a:xfrm>
          <a:custGeom>
            <a:avLst/>
            <a:gdLst/>
            <a:ahLst/>
            <a:cxnLst/>
            <a:rect l="l" t="t" r="r" b="b"/>
            <a:pathLst>
              <a:path w="5715000" h="314325">
                <a:moveTo>
                  <a:pt x="0" y="0"/>
                </a:moveTo>
                <a:lnTo>
                  <a:pt x="5715000" y="0"/>
                </a:lnTo>
                <a:lnTo>
                  <a:pt x="5715000" y="314325"/>
                </a:lnTo>
                <a:lnTo>
                  <a:pt x="0" y="3143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35093"/>
            <a:ext cx="5715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9565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System Overview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81000" y="915888"/>
            <a:ext cx="5905500" cy="385763"/>
          </a:xfrm>
          <a:custGeom>
            <a:avLst/>
            <a:gdLst/>
            <a:ahLst/>
            <a:cxnLst/>
            <a:rect l="l" t="t" r="r" b="b"/>
            <a:pathLst>
              <a:path w="5905500" h="385763">
                <a:moveTo>
                  <a:pt x="0" y="0"/>
                </a:moveTo>
                <a:lnTo>
                  <a:pt x="5905500" y="0"/>
                </a:lnTo>
                <a:lnTo>
                  <a:pt x="590550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81000" y="915888"/>
            <a:ext cx="5905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intelligent IoT hub connects sensing, automation, and live monitoring into one controlled home system.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2172" y="1866212"/>
            <a:ext cx="4124325" cy="2971800"/>
          </a:xfrm>
          <a:custGeom>
            <a:avLst/>
            <a:gdLst/>
            <a:ahLst/>
            <a:cxnLst/>
            <a:rect l="l" t="t" r="r" b="b"/>
            <a:pathLst>
              <a:path w="4124325" h="2971800">
                <a:moveTo>
                  <a:pt x="41041" y="0"/>
                </a:moveTo>
                <a:lnTo>
                  <a:pt x="4083284" y="0"/>
                </a:lnTo>
                <a:quadBezTo>
                  <a:pt x="4124325" y="0"/>
                  <a:pt x="4124325" y="41041"/>
                </a:quadBezTo>
                <a:lnTo>
                  <a:pt x="4124325" y="2930759"/>
                </a:lnTo>
                <a:quadBezTo>
                  <a:pt x="4124325" y="2971800"/>
                  <a:pt x="4083284" y="2971800"/>
                </a:quadBezTo>
                <a:lnTo>
                  <a:pt x="41041" y="2971800"/>
                </a:lnTo>
                <a:quadBezTo>
                  <a:pt x="0" y="2971800"/>
                  <a:pt x="0" y="2930759"/>
                </a:quadBezTo>
                <a:lnTo>
                  <a:pt x="0" y="41041"/>
                </a:lnTo>
                <a:quadBezTo>
                  <a:pt x="0" y="0"/>
                  <a:pt x="41041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85725" dir="2700000" algn="bl" rotWithShape="0">
              <a:srgbClr val="102A43">
                <a:alpha val="7843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1025" y="2056023"/>
            <a:ext cx="219075" cy="219075"/>
          </a:xfrm>
          <a:custGeom>
            <a:avLst/>
            <a:gdLst/>
            <a:ahLst/>
            <a:cxnLst/>
            <a:rect l="l" t="t" r="r" b="b"/>
            <a:pathLst>
              <a:path w="219075" h="219075">
                <a:moveTo>
                  <a:pt x="69574" y="0"/>
                </a:moveTo>
                <a:lnTo>
                  <a:pt x="149501" y="0"/>
                </a:lnTo>
                <a:quadBezTo>
                  <a:pt x="219075" y="0"/>
                  <a:pt x="219075" y="69574"/>
                </a:quadBezTo>
                <a:lnTo>
                  <a:pt x="219075" y="149501"/>
                </a:lnTo>
                <a:quadBezTo>
                  <a:pt x="219075" y="219075"/>
                  <a:pt x="149501" y="219075"/>
                </a:quadBezTo>
                <a:lnTo>
                  <a:pt x="69574" y="219075"/>
                </a:lnTo>
                <a:quadBezTo>
                  <a:pt x="0" y="219075"/>
                  <a:pt x="0" y="149501"/>
                </a:quadBezTo>
                <a:lnTo>
                  <a:pt x="0" y="69574"/>
                </a:lnTo>
                <a:quadBezTo>
                  <a:pt x="0" y="0"/>
                  <a:pt x="69574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" y="2108411"/>
            <a:ext cx="114300" cy="1143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86997" y="2056247"/>
            <a:ext cx="3419475" cy="185738"/>
          </a:xfrm>
          <a:custGeom>
            <a:avLst/>
            <a:gdLst/>
            <a:ahLst/>
            <a:cxnLst/>
            <a:rect l="l" t="t" r="r" b="b"/>
            <a:pathLst>
              <a:path w="3419475" h="185738">
                <a:moveTo>
                  <a:pt x="0" y="0"/>
                </a:moveTo>
                <a:lnTo>
                  <a:pt x="3419475" y="0"/>
                </a:lnTo>
                <a:lnTo>
                  <a:pt x="3419475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886997" y="2056247"/>
            <a:ext cx="34194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 IoT hub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885825" y="2271229"/>
            <a:ext cx="3048000" cy="333375"/>
          </a:xfrm>
          <a:custGeom>
            <a:avLst/>
            <a:gdLst/>
            <a:ahLst/>
            <a:cxnLst/>
            <a:rect l="l" t="t" r="r" b="b"/>
            <a:pathLst>
              <a:path w="3048000" h="333375">
                <a:moveTo>
                  <a:pt x="0" y="0"/>
                </a:moveTo>
                <a:lnTo>
                  <a:pt x="3048000" y="0"/>
                </a:lnTo>
                <a:lnTo>
                  <a:pt x="304800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885825" y="2271229"/>
            <a:ext cx="3048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Coordinates appliances, sensors, and cloud services through one managed control path.</a:t>
            </a:r>
            <a:endParaRPr lang="en-US" sz="9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795549"/>
            <a:ext cx="95250" cy="9525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53146" y="2767440"/>
            <a:ext cx="3186113" cy="152400"/>
          </a:xfrm>
          <a:custGeom>
            <a:avLst/>
            <a:gdLst/>
            <a:ahLst/>
            <a:cxnLst/>
            <a:rect l="l" t="t" r="r" b="b"/>
            <a:pathLst>
              <a:path w="3186113" h="152400">
                <a:moveTo>
                  <a:pt x="0" y="0"/>
                </a:moveTo>
                <a:lnTo>
                  <a:pt x="3186113" y="0"/>
                </a:lnTo>
                <a:lnTo>
                  <a:pt x="3186113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753146" y="2767440"/>
            <a:ext cx="31861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Sensors capture usage and environment data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53146" y="2940304"/>
            <a:ext cx="3186113" cy="152400"/>
          </a:xfrm>
          <a:custGeom>
            <a:avLst/>
            <a:gdLst/>
            <a:ahLst/>
            <a:cxnLst/>
            <a:rect l="l" t="t" r="r" b="b"/>
            <a:pathLst>
              <a:path w="3186113" h="152400">
                <a:moveTo>
                  <a:pt x="0" y="0"/>
                </a:moveTo>
                <a:lnTo>
                  <a:pt x="3186113" y="0"/>
                </a:lnTo>
                <a:lnTo>
                  <a:pt x="3186113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753146" y="2940304"/>
            <a:ext cx="31861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Inputs from the home feed the system continuously.</a:t>
            </a:r>
            <a:endParaRPr lang="en-US" sz="9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207953"/>
            <a:ext cx="95250" cy="9525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51973" y="3179843"/>
            <a:ext cx="3043238" cy="152400"/>
          </a:xfrm>
          <a:custGeom>
            <a:avLst/>
            <a:gdLst/>
            <a:ahLst/>
            <a:cxnLst/>
            <a:rect l="l" t="t" r="r" b="b"/>
            <a:pathLst>
              <a:path w="3043238" h="152400">
                <a:moveTo>
                  <a:pt x="0" y="0"/>
                </a:moveTo>
                <a:lnTo>
                  <a:pt x="3043238" y="0"/>
                </a:lnTo>
                <a:lnTo>
                  <a:pt x="3043238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751973" y="3179843"/>
            <a:ext cx="30432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dashboard visualizes real-time status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51973" y="3352707"/>
            <a:ext cx="3043238" cy="152400"/>
          </a:xfrm>
          <a:custGeom>
            <a:avLst/>
            <a:gdLst/>
            <a:ahLst/>
            <a:cxnLst/>
            <a:rect l="l" t="t" r="r" b="b"/>
            <a:pathLst>
              <a:path w="3043238" h="152400">
                <a:moveTo>
                  <a:pt x="0" y="0"/>
                </a:moveTo>
                <a:lnTo>
                  <a:pt x="3043238" y="0"/>
                </a:lnTo>
                <a:lnTo>
                  <a:pt x="3043238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751973" y="3352707"/>
            <a:ext cx="30432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Operators see live conditions, states, and exceptions.</a:t>
            </a:r>
            <a:endParaRPr lang="en-US" sz="9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620356"/>
            <a:ext cx="95250" cy="9525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752419" y="3592246"/>
            <a:ext cx="2905125" cy="152400"/>
          </a:xfrm>
          <a:custGeom>
            <a:avLst/>
            <a:gdLst/>
            <a:ahLst/>
            <a:cxnLst/>
            <a:rect l="l" t="t" r="r" b="b"/>
            <a:pathLst>
              <a:path w="2905125" h="152400">
                <a:moveTo>
                  <a:pt x="0" y="0"/>
                </a:moveTo>
                <a:lnTo>
                  <a:pt x="2905125" y="0"/>
                </a:lnTo>
                <a:lnTo>
                  <a:pt x="2905125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1" name="Text 24"/>
          <p:cNvSpPr/>
          <p:nvPr/>
        </p:nvSpPr>
        <p:spPr>
          <a:xfrm>
            <a:off x="752419" y="3592246"/>
            <a:ext cx="2905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Rules engine triggers automation actions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752419" y="3765111"/>
            <a:ext cx="2905125" cy="152400"/>
          </a:xfrm>
          <a:custGeom>
            <a:avLst/>
            <a:gdLst/>
            <a:ahLst/>
            <a:cxnLst/>
            <a:rect l="l" t="t" r="r" b="b"/>
            <a:pathLst>
              <a:path w="2905125" h="152400">
                <a:moveTo>
                  <a:pt x="0" y="0"/>
                </a:moveTo>
                <a:lnTo>
                  <a:pt x="2905125" y="0"/>
                </a:lnTo>
                <a:lnTo>
                  <a:pt x="2905125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752419" y="3765111"/>
            <a:ext cx="2905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Policy logic turns data into immediate responses.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82197" y="4129571"/>
            <a:ext cx="3724275" cy="519112"/>
          </a:xfrm>
          <a:custGeom>
            <a:avLst/>
            <a:gdLst/>
            <a:ahLst/>
            <a:cxnLst/>
            <a:rect l="l" t="t" r="r" b="b"/>
            <a:pathLst>
              <a:path w="3724275" h="519112">
                <a:moveTo>
                  <a:pt x="184560" y="0"/>
                </a:moveTo>
                <a:lnTo>
                  <a:pt x="3539715" y="0"/>
                </a:lnTo>
                <a:quadBezTo>
                  <a:pt x="3724275" y="0"/>
                  <a:pt x="3724275" y="184560"/>
                </a:quadBezTo>
                <a:lnTo>
                  <a:pt x="3724275" y="334552"/>
                </a:lnTo>
                <a:quadBezTo>
                  <a:pt x="3724275" y="519112"/>
                  <a:pt x="3539715" y="519112"/>
                </a:quadBezTo>
                <a:lnTo>
                  <a:pt x="184560" y="519112"/>
                </a:lnTo>
                <a:quadBezTo>
                  <a:pt x="0" y="519112"/>
                  <a:pt x="0" y="334552"/>
                </a:quadBezTo>
                <a:lnTo>
                  <a:pt x="0" y="184560"/>
                </a:lnTo>
                <a:quadBezTo>
                  <a:pt x="0" y="0"/>
                  <a:pt x="184560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4327215"/>
            <a:ext cx="123825" cy="123825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896522" y="4234346"/>
            <a:ext cx="3295650" cy="309562"/>
          </a:xfrm>
          <a:custGeom>
            <a:avLst/>
            <a:gdLst/>
            <a:ahLst/>
            <a:cxnLst/>
            <a:rect l="l" t="t" r="r" b="b"/>
            <a:pathLst>
              <a:path w="3295650" h="309562">
                <a:moveTo>
                  <a:pt x="0" y="0"/>
                </a:moveTo>
                <a:lnTo>
                  <a:pt x="3295650" y="0"/>
                </a:lnTo>
                <a:lnTo>
                  <a:pt x="3295650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7" name="Text 29"/>
          <p:cNvSpPr/>
          <p:nvPr/>
        </p:nvSpPr>
        <p:spPr>
          <a:xfrm>
            <a:off x="896522" y="4234346"/>
            <a:ext cx="3295650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architecture emphasizes clean signal flow: sense, analyze, visualize, then act.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4716047" y="1607400"/>
            <a:ext cx="4048125" cy="123825"/>
          </a:xfrm>
          <a:custGeom>
            <a:avLst/>
            <a:gdLst/>
            <a:ahLst/>
            <a:cxnLst/>
            <a:rect l="l" t="t" r="r" b="b"/>
            <a:pathLst>
              <a:path w="4048125" h="123825">
                <a:moveTo>
                  <a:pt x="0" y="0"/>
                </a:moveTo>
                <a:lnTo>
                  <a:pt x="4048125" y="0"/>
                </a:lnTo>
                <a:lnTo>
                  <a:pt x="4048125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4716047" y="1607400"/>
            <a:ext cx="40481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SUPPORTING ARCHITECTURE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4716047" y="1847162"/>
            <a:ext cx="4048125" cy="2990850"/>
          </a:xfrm>
          <a:custGeom>
            <a:avLst/>
            <a:gdLst/>
            <a:ahLst/>
            <a:cxnLst/>
            <a:rect l="l" t="t" r="r" b="b"/>
            <a:pathLst>
              <a:path w="4048125" h="2990850">
                <a:moveTo>
                  <a:pt x="40765" y="0"/>
                </a:moveTo>
                <a:lnTo>
                  <a:pt x="4007360" y="0"/>
                </a:lnTo>
                <a:quadBezTo>
                  <a:pt x="4048125" y="0"/>
                  <a:pt x="4048125" y="40765"/>
                </a:quadBezTo>
                <a:lnTo>
                  <a:pt x="4048125" y="2950085"/>
                </a:lnTo>
                <a:quadBezTo>
                  <a:pt x="4048125" y="2990850"/>
                  <a:pt x="4007360" y="2990850"/>
                </a:quadBezTo>
                <a:lnTo>
                  <a:pt x="40765" y="2990850"/>
                </a:lnTo>
                <a:quadBezTo>
                  <a:pt x="0" y="2990850"/>
                  <a:pt x="0" y="2950085"/>
                </a:quadBezTo>
                <a:lnTo>
                  <a:pt x="0" y="40765"/>
                </a:lnTo>
                <a:quadBezTo>
                  <a:pt x="0" y="0"/>
                  <a:pt x="40765" y="0"/>
                </a:quadBezTo>
                <a:close/>
              </a:path>
            </a:pathLst>
          </a:custGeom>
          <a:solidFill>
            <a:srgbClr val="FFFFFF">
              <a:alpha val="0"/>
            </a:srgbClr>
          </a:solidFill>
          <a:ln/>
          <a:effectLst>
            <a:outerShdw blurRad="238125" dist="85725" dir="2700000" algn="bl" rotWithShape="0">
              <a:srgbClr val="102A43">
                <a:alpha val="7843"/>
              </a:srgbClr>
            </a:outerShdw>
          </a:effectLst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6047" y="1847162"/>
            <a:ext cx="4048125" cy="299085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00BDA38-0F73-E674-2C0B-A7F3F41EE36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191375" y="124165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343849"/>
            <a:ext cx="6286500" cy="123825"/>
          </a:xfrm>
          <a:custGeom>
            <a:avLst/>
            <a:gdLst/>
            <a:ahLst/>
            <a:cxnLst/>
            <a:rect l="l" t="t" r="r" b="b"/>
            <a:pathLst>
              <a:path w="6286500" h="123825">
                <a:moveTo>
                  <a:pt x="0" y="0"/>
                </a:moveTo>
                <a:lnTo>
                  <a:pt x="6286500" y="0"/>
                </a:lnTo>
                <a:lnTo>
                  <a:pt x="628650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00050" y="343849"/>
            <a:ext cx="62865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00050" y="534628"/>
            <a:ext cx="5715000" cy="661987"/>
          </a:xfrm>
          <a:custGeom>
            <a:avLst/>
            <a:gdLst/>
            <a:ahLst/>
            <a:cxnLst/>
            <a:rect l="l" t="t" r="r" b="b"/>
            <a:pathLst>
              <a:path w="5715000" h="661987">
                <a:moveTo>
                  <a:pt x="0" y="0"/>
                </a:moveTo>
                <a:lnTo>
                  <a:pt x="5715000" y="0"/>
                </a:lnTo>
                <a:lnTo>
                  <a:pt x="5715000" y="661987"/>
                </a:lnTo>
                <a:lnTo>
                  <a:pt x="0" y="6619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00050" y="534628"/>
            <a:ext cx="5715000" cy="661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435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layers that turn home signals into action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00050" y="1262510"/>
            <a:ext cx="5810250" cy="395287"/>
          </a:xfrm>
          <a:custGeom>
            <a:avLst/>
            <a:gdLst/>
            <a:ahLst/>
            <a:cxnLst/>
            <a:rect l="l" t="t" r="r" b="b"/>
            <a:pathLst>
              <a:path w="5810250" h="395287">
                <a:moveTo>
                  <a:pt x="0" y="0"/>
                </a:moveTo>
                <a:lnTo>
                  <a:pt x="5810250" y="0"/>
                </a:lnTo>
                <a:lnTo>
                  <a:pt x="5810250" y="395287"/>
                </a:lnTo>
                <a:lnTo>
                  <a:pt x="0" y="3952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00050" y="1262510"/>
            <a:ext cx="5810250" cy="39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clean IoT control stack: sensing, processing, communication, and application stay separated for clarity and reliability.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00050" y="1962316"/>
            <a:ext cx="8343900" cy="2867025"/>
          </a:xfrm>
          <a:custGeom>
            <a:avLst/>
            <a:gdLst/>
            <a:ahLst/>
            <a:cxnLst/>
            <a:rect l="l" t="t" r="r" b="b"/>
            <a:pathLst>
              <a:path w="8343900" h="2867025">
                <a:moveTo>
                  <a:pt x="51635" y="0"/>
                </a:moveTo>
                <a:lnTo>
                  <a:pt x="8292265" y="0"/>
                </a:lnTo>
                <a:quadBezTo>
                  <a:pt x="8343900" y="0"/>
                  <a:pt x="8343900" y="51635"/>
                </a:quadBezTo>
                <a:lnTo>
                  <a:pt x="8343900" y="2815390"/>
                </a:lnTo>
                <a:quadBezTo>
                  <a:pt x="8343900" y="2867025"/>
                  <a:pt x="8292265" y="2867025"/>
                </a:quadBezTo>
                <a:lnTo>
                  <a:pt x="51635" y="2867025"/>
                </a:lnTo>
                <a:quadBezTo>
                  <a:pt x="0" y="2867025"/>
                  <a:pt x="0" y="2815390"/>
                </a:quadBezTo>
                <a:lnTo>
                  <a:pt x="0" y="51635"/>
                </a:lnTo>
                <a:quadBezTo>
                  <a:pt x="0" y="0"/>
                  <a:pt x="51635" y="0"/>
                </a:quadBez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12" name="Shape 9"/>
          <p:cNvSpPr/>
          <p:nvPr/>
        </p:nvSpPr>
        <p:spPr>
          <a:xfrm>
            <a:off x="619125" y="2192981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13" name="Shape 10"/>
          <p:cNvSpPr/>
          <p:nvPr/>
        </p:nvSpPr>
        <p:spPr>
          <a:xfrm>
            <a:off x="772251" y="2162026"/>
            <a:ext cx="1085850" cy="147637"/>
          </a:xfrm>
          <a:custGeom>
            <a:avLst/>
            <a:gdLst/>
            <a:ahLst/>
            <a:cxnLst/>
            <a:rect l="l" t="t" r="r" b="b"/>
            <a:pathLst>
              <a:path w="1085850" h="147637">
                <a:moveTo>
                  <a:pt x="0" y="0"/>
                </a:moveTo>
                <a:lnTo>
                  <a:pt x="1085850" y="0"/>
                </a:lnTo>
                <a:lnTo>
                  <a:pt x="1085850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72251" y="2162026"/>
            <a:ext cx="10858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870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 flow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05017" y="2173914"/>
            <a:ext cx="2319337" cy="123825"/>
          </a:xfrm>
          <a:custGeom>
            <a:avLst/>
            <a:gdLst/>
            <a:ahLst/>
            <a:cxnLst/>
            <a:rect l="l" t="t" r="r" b="b"/>
            <a:pathLst>
              <a:path w="2319337" h="123825">
                <a:moveTo>
                  <a:pt x="0" y="0"/>
                </a:moveTo>
                <a:lnTo>
                  <a:pt x="2319337" y="0"/>
                </a:lnTo>
                <a:lnTo>
                  <a:pt x="2319337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205017" y="2173914"/>
            <a:ext cx="23193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Modular by design, connected in sequence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19125" y="2433657"/>
            <a:ext cx="7905750" cy="585788"/>
          </a:xfrm>
          <a:custGeom>
            <a:avLst/>
            <a:gdLst/>
            <a:ahLst/>
            <a:cxnLst/>
            <a:rect l="l" t="t" r="r" b="b"/>
            <a:pathLst>
              <a:path w="7905750" h="585788">
                <a:moveTo>
                  <a:pt x="178419" y="0"/>
                </a:moveTo>
                <a:lnTo>
                  <a:pt x="7727331" y="0"/>
                </a:lnTo>
                <a:quadBezTo>
                  <a:pt x="7905750" y="0"/>
                  <a:pt x="7905750" y="178419"/>
                </a:quadBezTo>
                <a:lnTo>
                  <a:pt x="7905750" y="407368"/>
                </a:lnTo>
                <a:quadBezTo>
                  <a:pt x="7905750" y="585788"/>
                  <a:pt x="7727331" y="585788"/>
                </a:quadBezTo>
                <a:lnTo>
                  <a:pt x="178419" y="585788"/>
                </a:lnTo>
                <a:quadBezTo>
                  <a:pt x="0" y="585788"/>
                  <a:pt x="0" y="407368"/>
                </a:quadBezTo>
                <a:lnTo>
                  <a:pt x="0" y="178419"/>
                </a:lnTo>
                <a:quadBezTo>
                  <a:pt x="0" y="0"/>
                  <a:pt x="178419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742950" y="2547305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67732" y="0"/>
                </a:moveTo>
                <a:lnTo>
                  <a:pt x="189443" y="0"/>
                </a:lnTo>
                <a:quadBezTo>
                  <a:pt x="257175" y="0"/>
                  <a:pt x="257175" y="67732"/>
                </a:quadBezTo>
                <a:lnTo>
                  <a:pt x="257175" y="189443"/>
                </a:lnTo>
                <a:quadBezTo>
                  <a:pt x="257175" y="257175"/>
                  <a:pt x="189443" y="257175"/>
                </a:quadBezTo>
                <a:lnTo>
                  <a:pt x="67732" y="257175"/>
                </a:lnTo>
                <a:quadBezTo>
                  <a:pt x="0" y="257175"/>
                  <a:pt x="0" y="189443"/>
                </a:quadBezTo>
                <a:lnTo>
                  <a:pt x="0" y="67732"/>
                </a:lnTo>
                <a:quadBezTo>
                  <a:pt x="0" y="0"/>
                  <a:pt x="67732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2613980"/>
            <a:ext cx="123825" cy="123825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1104993" y="2552068"/>
            <a:ext cx="809625" cy="161925"/>
          </a:xfrm>
          <a:custGeom>
            <a:avLst/>
            <a:gdLst/>
            <a:ahLst/>
            <a:cxnLst/>
            <a:rect l="l" t="t" r="r" b="b"/>
            <a:pathLst>
              <a:path w="809625" h="161925">
                <a:moveTo>
                  <a:pt x="0" y="0"/>
                </a:moveTo>
                <a:lnTo>
                  <a:pt x="809625" y="0"/>
                </a:lnTo>
                <a:lnTo>
                  <a:pt x="809625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1104993" y="2552068"/>
            <a:ext cx="8096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 layer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1972363" y="2547305"/>
            <a:ext cx="1509712" cy="171450"/>
          </a:xfrm>
          <a:custGeom>
            <a:avLst/>
            <a:gdLst/>
            <a:ahLst/>
            <a:cxnLst/>
            <a:rect l="l" t="t" r="r" b="b"/>
            <a:pathLst>
              <a:path w="1509712" h="171450">
                <a:moveTo>
                  <a:pt x="85725" y="0"/>
                </a:moveTo>
                <a:lnTo>
                  <a:pt x="1423987" y="0"/>
                </a:lnTo>
                <a:quadBezTo>
                  <a:pt x="1509712" y="0"/>
                  <a:pt x="1509712" y="85725"/>
                </a:quadBezTo>
                <a:lnTo>
                  <a:pt x="1509712" y="85725"/>
                </a:lnTo>
                <a:quadBezTo>
                  <a:pt x="1509712" y="171450"/>
                  <a:pt x="1423987" y="171450"/>
                </a:quadBezTo>
                <a:lnTo>
                  <a:pt x="85725" y="171450"/>
                </a:lnTo>
                <a:quadBezTo>
                  <a:pt x="0" y="171450"/>
                  <a:pt x="0" y="8572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23" name="Text 19"/>
          <p:cNvSpPr/>
          <p:nvPr/>
        </p:nvSpPr>
        <p:spPr>
          <a:xfrm>
            <a:off x="1972363" y="2547305"/>
            <a:ext cx="15097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Sensors and smart switches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1104900" y="2747982"/>
            <a:ext cx="5715000" cy="157163"/>
          </a:xfrm>
          <a:custGeom>
            <a:avLst/>
            <a:gdLst/>
            <a:ahLst/>
            <a:cxnLst/>
            <a:rect l="l" t="t" r="r" b="b"/>
            <a:pathLst>
              <a:path w="5715000" h="157163">
                <a:moveTo>
                  <a:pt x="0" y="0"/>
                </a:moveTo>
                <a:lnTo>
                  <a:pt x="5715000" y="0"/>
                </a:lnTo>
                <a:lnTo>
                  <a:pt x="57150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1104900" y="2747982"/>
            <a:ext cx="5715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Captures occupancy, command, and environmental signals at the edge of the home.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619125" y="3106471"/>
            <a:ext cx="7905750" cy="585788"/>
          </a:xfrm>
          <a:custGeom>
            <a:avLst/>
            <a:gdLst/>
            <a:ahLst/>
            <a:cxnLst/>
            <a:rect l="l" t="t" r="r" b="b"/>
            <a:pathLst>
              <a:path w="7905750" h="585788">
                <a:moveTo>
                  <a:pt x="178419" y="0"/>
                </a:moveTo>
                <a:lnTo>
                  <a:pt x="7727331" y="0"/>
                </a:lnTo>
                <a:quadBezTo>
                  <a:pt x="7905750" y="0"/>
                  <a:pt x="7905750" y="178419"/>
                </a:quadBezTo>
                <a:lnTo>
                  <a:pt x="7905750" y="407368"/>
                </a:lnTo>
                <a:quadBezTo>
                  <a:pt x="7905750" y="585788"/>
                  <a:pt x="7727331" y="585788"/>
                </a:quadBezTo>
                <a:lnTo>
                  <a:pt x="178419" y="585788"/>
                </a:lnTo>
                <a:quadBezTo>
                  <a:pt x="0" y="585788"/>
                  <a:pt x="0" y="407368"/>
                </a:quadBezTo>
                <a:lnTo>
                  <a:pt x="0" y="178419"/>
                </a:lnTo>
                <a:quadBezTo>
                  <a:pt x="0" y="0"/>
                  <a:pt x="178419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Shape 23"/>
          <p:cNvSpPr/>
          <p:nvPr/>
        </p:nvSpPr>
        <p:spPr>
          <a:xfrm>
            <a:off x="742950" y="3220121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67732" y="0"/>
                </a:moveTo>
                <a:lnTo>
                  <a:pt x="189443" y="0"/>
                </a:lnTo>
                <a:quadBezTo>
                  <a:pt x="257175" y="0"/>
                  <a:pt x="257175" y="67732"/>
                </a:quadBezTo>
                <a:lnTo>
                  <a:pt x="257175" y="189443"/>
                </a:lnTo>
                <a:quadBezTo>
                  <a:pt x="257175" y="257175"/>
                  <a:pt x="189443" y="257175"/>
                </a:quadBezTo>
                <a:lnTo>
                  <a:pt x="67732" y="257175"/>
                </a:lnTo>
                <a:quadBezTo>
                  <a:pt x="0" y="257175"/>
                  <a:pt x="0" y="189443"/>
                </a:quadBezTo>
                <a:lnTo>
                  <a:pt x="0" y="67732"/>
                </a:lnTo>
                <a:quadBezTo>
                  <a:pt x="0" y="0"/>
                  <a:pt x="67732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286796"/>
            <a:ext cx="123825" cy="123825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1105571" y="3224882"/>
            <a:ext cx="1228725" cy="161925"/>
          </a:xfrm>
          <a:custGeom>
            <a:avLst/>
            <a:gdLst/>
            <a:ahLst/>
            <a:cxnLst/>
            <a:rect l="l" t="t" r="r" b="b"/>
            <a:pathLst>
              <a:path w="1228725" h="161925">
                <a:moveTo>
                  <a:pt x="0" y="0"/>
                </a:moveTo>
                <a:lnTo>
                  <a:pt x="1228725" y="0"/>
                </a:lnTo>
                <a:lnTo>
                  <a:pt x="1228725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1105571" y="3224882"/>
            <a:ext cx="1228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Processing layer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2392077" y="3220121"/>
            <a:ext cx="1366837" cy="171450"/>
          </a:xfrm>
          <a:custGeom>
            <a:avLst/>
            <a:gdLst/>
            <a:ahLst/>
            <a:cxnLst/>
            <a:rect l="l" t="t" r="r" b="b"/>
            <a:pathLst>
              <a:path w="1366837" h="171450">
                <a:moveTo>
                  <a:pt x="85725" y="0"/>
                </a:moveTo>
                <a:lnTo>
                  <a:pt x="1281112" y="0"/>
                </a:lnTo>
                <a:quadBezTo>
                  <a:pt x="1366837" y="0"/>
                  <a:pt x="1366837" y="85725"/>
                </a:quadBezTo>
                <a:lnTo>
                  <a:pt x="1366837" y="85725"/>
                </a:lnTo>
                <a:quadBezTo>
                  <a:pt x="1366837" y="171450"/>
                  <a:pt x="1281112" y="171450"/>
                </a:quadBezTo>
                <a:lnTo>
                  <a:pt x="85725" y="171450"/>
                </a:lnTo>
                <a:quadBezTo>
                  <a:pt x="0" y="171450"/>
                  <a:pt x="0" y="8572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32" name="Text 27"/>
          <p:cNvSpPr/>
          <p:nvPr/>
        </p:nvSpPr>
        <p:spPr>
          <a:xfrm>
            <a:off x="2392077" y="3220121"/>
            <a:ext cx="1366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Microcontroller and logic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1104900" y="3420796"/>
            <a:ext cx="5715000" cy="157163"/>
          </a:xfrm>
          <a:custGeom>
            <a:avLst/>
            <a:gdLst/>
            <a:ahLst/>
            <a:cxnLst/>
            <a:rect l="l" t="t" r="r" b="b"/>
            <a:pathLst>
              <a:path w="5715000" h="157163">
                <a:moveTo>
                  <a:pt x="0" y="0"/>
                </a:moveTo>
                <a:lnTo>
                  <a:pt x="5715000" y="0"/>
                </a:lnTo>
                <a:lnTo>
                  <a:pt x="57150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1104900" y="3420796"/>
            <a:ext cx="5715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Executes rules, filters input, and makes local decisions before any network delay.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19125" y="3779286"/>
            <a:ext cx="7905750" cy="585788"/>
          </a:xfrm>
          <a:custGeom>
            <a:avLst/>
            <a:gdLst/>
            <a:ahLst/>
            <a:cxnLst/>
            <a:rect l="l" t="t" r="r" b="b"/>
            <a:pathLst>
              <a:path w="7905750" h="585788">
                <a:moveTo>
                  <a:pt x="178419" y="0"/>
                </a:moveTo>
                <a:lnTo>
                  <a:pt x="7727331" y="0"/>
                </a:lnTo>
                <a:quadBezTo>
                  <a:pt x="7905750" y="0"/>
                  <a:pt x="7905750" y="178419"/>
                </a:quadBezTo>
                <a:lnTo>
                  <a:pt x="7905750" y="407368"/>
                </a:lnTo>
                <a:quadBezTo>
                  <a:pt x="7905750" y="585788"/>
                  <a:pt x="7727331" y="585788"/>
                </a:quadBezTo>
                <a:lnTo>
                  <a:pt x="178419" y="585788"/>
                </a:lnTo>
                <a:quadBezTo>
                  <a:pt x="0" y="585788"/>
                  <a:pt x="0" y="407368"/>
                </a:quadBezTo>
                <a:lnTo>
                  <a:pt x="0" y="178419"/>
                </a:lnTo>
                <a:quadBezTo>
                  <a:pt x="0" y="0"/>
                  <a:pt x="178419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Shape 31"/>
          <p:cNvSpPr/>
          <p:nvPr/>
        </p:nvSpPr>
        <p:spPr>
          <a:xfrm>
            <a:off x="742950" y="3892934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67732" y="0"/>
                </a:moveTo>
                <a:lnTo>
                  <a:pt x="189443" y="0"/>
                </a:lnTo>
                <a:quadBezTo>
                  <a:pt x="257175" y="0"/>
                  <a:pt x="257175" y="67732"/>
                </a:quadBezTo>
                <a:lnTo>
                  <a:pt x="257175" y="189443"/>
                </a:lnTo>
                <a:quadBezTo>
                  <a:pt x="257175" y="257175"/>
                  <a:pt x="189443" y="257175"/>
                </a:quadBezTo>
                <a:lnTo>
                  <a:pt x="67732" y="257175"/>
                </a:lnTo>
                <a:quadBezTo>
                  <a:pt x="0" y="257175"/>
                  <a:pt x="0" y="189443"/>
                </a:quadBezTo>
                <a:lnTo>
                  <a:pt x="0" y="67732"/>
                </a:lnTo>
                <a:quadBezTo>
                  <a:pt x="0" y="0"/>
                  <a:pt x="67732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959609"/>
            <a:ext cx="123825" cy="123825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1104751" y="3897697"/>
            <a:ext cx="1609725" cy="161925"/>
          </a:xfrm>
          <a:custGeom>
            <a:avLst/>
            <a:gdLst/>
            <a:ahLst/>
            <a:cxnLst/>
            <a:rect l="l" t="t" r="r" b="b"/>
            <a:pathLst>
              <a:path w="1609725" h="161925">
                <a:moveTo>
                  <a:pt x="0" y="0"/>
                </a:moveTo>
                <a:lnTo>
                  <a:pt x="1609725" y="0"/>
                </a:lnTo>
                <a:lnTo>
                  <a:pt x="1609725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3"/>
          <p:cNvSpPr/>
          <p:nvPr/>
        </p:nvSpPr>
        <p:spPr>
          <a:xfrm>
            <a:off x="1104751" y="3897697"/>
            <a:ext cx="1609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Communication layer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2772631" y="3892934"/>
            <a:ext cx="895350" cy="171450"/>
          </a:xfrm>
          <a:custGeom>
            <a:avLst/>
            <a:gdLst/>
            <a:ahLst/>
            <a:cxnLst/>
            <a:rect l="l" t="t" r="r" b="b"/>
            <a:pathLst>
              <a:path w="895350" h="171450">
                <a:moveTo>
                  <a:pt x="85725" y="0"/>
                </a:moveTo>
                <a:lnTo>
                  <a:pt x="809625" y="0"/>
                </a:lnTo>
                <a:quadBezTo>
                  <a:pt x="895350" y="0"/>
                  <a:pt x="895350" y="85725"/>
                </a:quadBezTo>
                <a:lnTo>
                  <a:pt x="895350" y="85725"/>
                </a:lnTo>
                <a:quadBezTo>
                  <a:pt x="895350" y="171450"/>
                  <a:pt x="809625" y="171450"/>
                </a:quadBezTo>
                <a:lnTo>
                  <a:pt x="85725" y="171450"/>
                </a:lnTo>
                <a:quadBezTo>
                  <a:pt x="0" y="171450"/>
                  <a:pt x="0" y="8572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41" name="Text 35"/>
          <p:cNvSpPr/>
          <p:nvPr/>
        </p:nvSpPr>
        <p:spPr>
          <a:xfrm>
            <a:off x="2772631" y="3892934"/>
            <a:ext cx="895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Wi‑Fi and cloud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1104900" y="4093611"/>
            <a:ext cx="5715000" cy="157163"/>
          </a:xfrm>
          <a:custGeom>
            <a:avLst/>
            <a:gdLst/>
            <a:ahLst/>
            <a:cxnLst/>
            <a:rect l="l" t="t" r="r" b="b"/>
            <a:pathLst>
              <a:path w="5715000" h="157163">
                <a:moveTo>
                  <a:pt x="0" y="0"/>
                </a:moveTo>
                <a:lnTo>
                  <a:pt x="5715000" y="0"/>
                </a:lnTo>
                <a:lnTo>
                  <a:pt x="57150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3" name="Text 37"/>
          <p:cNvSpPr/>
          <p:nvPr/>
        </p:nvSpPr>
        <p:spPr>
          <a:xfrm>
            <a:off x="1104900" y="4093611"/>
            <a:ext cx="5715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Moves events to remote services for sync, logging, and system-wide visibility.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19125" y="4419445"/>
            <a:ext cx="7905750" cy="585788"/>
          </a:xfrm>
          <a:custGeom>
            <a:avLst/>
            <a:gdLst/>
            <a:ahLst/>
            <a:cxnLst/>
            <a:rect l="l" t="t" r="r" b="b"/>
            <a:pathLst>
              <a:path w="7905750" h="585788">
                <a:moveTo>
                  <a:pt x="178419" y="0"/>
                </a:moveTo>
                <a:lnTo>
                  <a:pt x="7727331" y="0"/>
                </a:lnTo>
                <a:quadBezTo>
                  <a:pt x="7905750" y="0"/>
                  <a:pt x="7905750" y="178419"/>
                </a:quadBezTo>
                <a:lnTo>
                  <a:pt x="7905750" y="407368"/>
                </a:lnTo>
                <a:quadBezTo>
                  <a:pt x="7905750" y="585788"/>
                  <a:pt x="7727331" y="585788"/>
                </a:quadBezTo>
                <a:lnTo>
                  <a:pt x="178419" y="585788"/>
                </a:lnTo>
                <a:quadBezTo>
                  <a:pt x="0" y="585788"/>
                  <a:pt x="0" y="407368"/>
                </a:quadBezTo>
                <a:lnTo>
                  <a:pt x="0" y="178419"/>
                </a:lnTo>
                <a:quadBezTo>
                  <a:pt x="0" y="0"/>
                  <a:pt x="178419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Shape 39"/>
          <p:cNvSpPr/>
          <p:nvPr/>
        </p:nvSpPr>
        <p:spPr>
          <a:xfrm>
            <a:off x="742950" y="4565749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67732" y="0"/>
                </a:moveTo>
                <a:lnTo>
                  <a:pt x="189443" y="0"/>
                </a:lnTo>
                <a:quadBezTo>
                  <a:pt x="257175" y="0"/>
                  <a:pt x="257175" y="67732"/>
                </a:quadBezTo>
                <a:lnTo>
                  <a:pt x="257175" y="189443"/>
                </a:lnTo>
                <a:quadBezTo>
                  <a:pt x="257175" y="257175"/>
                  <a:pt x="189443" y="257175"/>
                </a:quadBezTo>
                <a:lnTo>
                  <a:pt x="67732" y="257175"/>
                </a:lnTo>
                <a:quadBezTo>
                  <a:pt x="0" y="257175"/>
                  <a:pt x="0" y="189443"/>
                </a:quadBezTo>
                <a:lnTo>
                  <a:pt x="0" y="67732"/>
                </a:lnTo>
                <a:quadBezTo>
                  <a:pt x="0" y="0"/>
                  <a:pt x="67732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632424"/>
            <a:ext cx="123825" cy="123825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1105496" y="4570512"/>
            <a:ext cx="1266825" cy="161925"/>
          </a:xfrm>
          <a:custGeom>
            <a:avLst/>
            <a:gdLst/>
            <a:ahLst/>
            <a:cxnLst/>
            <a:rect l="l" t="t" r="r" b="b"/>
            <a:pathLst>
              <a:path w="1266825" h="161925">
                <a:moveTo>
                  <a:pt x="0" y="0"/>
                </a:moveTo>
                <a:lnTo>
                  <a:pt x="1266825" y="0"/>
                </a:lnTo>
                <a:lnTo>
                  <a:pt x="1266825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8" name="Text 41"/>
          <p:cNvSpPr/>
          <p:nvPr/>
        </p:nvSpPr>
        <p:spPr>
          <a:xfrm>
            <a:off x="1105496" y="4570512"/>
            <a:ext cx="12668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layer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2430697" y="4565749"/>
            <a:ext cx="1185863" cy="171450"/>
          </a:xfrm>
          <a:custGeom>
            <a:avLst/>
            <a:gdLst/>
            <a:ahLst/>
            <a:cxnLst/>
            <a:rect l="l" t="t" r="r" b="b"/>
            <a:pathLst>
              <a:path w="1185863" h="171450">
                <a:moveTo>
                  <a:pt x="85725" y="0"/>
                </a:moveTo>
                <a:lnTo>
                  <a:pt x="1100138" y="0"/>
                </a:lnTo>
                <a:quadBezTo>
                  <a:pt x="1185863" y="0"/>
                  <a:pt x="1185863" y="85725"/>
                </a:quadBezTo>
                <a:lnTo>
                  <a:pt x="1185863" y="85725"/>
                </a:lnTo>
                <a:quadBezTo>
                  <a:pt x="1185863" y="171450"/>
                  <a:pt x="1100138" y="171450"/>
                </a:quadBezTo>
                <a:lnTo>
                  <a:pt x="85725" y="171450"/>
                </a:lnTo>
                <a:quadBezTo>
                  <a:pt x="0" y="171450"/>
                  <a:pt x="0" y="85725"/>
                </a:quadBezTo>
                <a:lnTo>
                  <a:pt x="0" y="85725"/>
                </a:lnTo>
                <a:quadBezTo>
                  <a:pt x="0" y="0"/>
                  <a:pt x="8572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50" name="Text 43"/>
          <p:cNvSpPr/>
          <p:nvPr/>
        </p:nvSpPr>
        <p:spPr>
          <a:xfrm>
            <a:off x="2430697" y="4565749"/>
            <a:ext cx="11858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698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and alerts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1104900" y="4766426"/>
            <a:ext cx="5715000" cy="157163"/>
          </a:xfrm>
          <a:custGeom>
            <a:avLst/>
            <a:gdLst/>
            <a:ahLst/>
            <a:cxnLst/>
            <a:rect l="l" t="t" r="r" b="b"/>
            <a:pathLst>
              <a:path w="5715000" h="157163">
                <a:moveTo>
                  <a:pt x="0" y="0"/>
                </a:moveTo>
                <a:lnTo>
                  <a:pt x="5715000" y="0"/>
                </a:lnTo>
                <a:lnTo>
                  <a:pt x="5715000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2" name="Text 45"/>
          <p:cNvSpPr/>
          <p:nvPr/>
        </p:nvSpPr>
        <p:spPr>
          <a:xfrm>
            <a:off x="1104900" y="4766426"/>
            <a:ext cx="5715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870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Presents live status and triggers alerts that convert data into user action.</a:t>
            </a:r>
            <a:endParaRPr lang="en-US" sz="900" dirty="0"/>
          </a:p>
        </p:txBody>
      </p:sp>
      <p:sp>
        <p:nvSpPr>
          <p:cNvPr id="53" name="Shape 46"/>
          <p:cNvSpPr/>
          <p:nvPr/>
        </p:nvSpPr>
        <p:spPr>
          <a:xfrm>
            <a:off x="619683" y="4504376"/>
            <a:ext cx="3586163" cy="123825"/>
          </a:xfrm>
          <a:custGeom>
            <a:avLst/>
            <a:gdLst/>
            <a:ahLst/>
            <a:cxnLst/>
            <a:rect l="l" t="t" r="r" b="b"/>
            <a:pathLst>
              <a:path w="3586163" h="123825">
                <a:moveTo>
                  <a:pt x="0" y="0"/>
                </a:moveTo>
                <a:lnTo>
                  <a:pt x="3586163" y="0"/>
                </a:lnTo>
                <a:lnTo>
                  <a:pt x="3586163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6" name="Shape 48"/>
          <p:cNvSpPr/>
          <p:nvPr/>
        </p:nvSpPr>
        <p:spPr>
          <a:xfrm>
            <a:off x="7328371" y="4506739"/>
            <a:ext cx="1196504" cy="116681"/>
          </a:xfrm>
          <a:custGeom>
            <a:avLst/>
            <a:gdLst/>
            <a:ahLst/>
            <a:cxnLst/>
            <a:rect l="l" t="t" r="r" b="b"/>
            <a:pathLst>
              <a:path w="1196504" h="116681">
                <a:moveTo>
                  <a:pt x="0" y="0"/>
                </a:moveTo>
                <a:lnTo>
                  <a:pt x="1196504" y="0"/>
                </a:lnTo>
                <a:lnTo>
                  <a:pt x="1196504" y="116681"/>
                </a:lnTo>
                <a:lnTo>
                  <a:pt x="0" y="116681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D37B9478-7C15-7D41-83F9-B6CF38BC3C7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191375" y="120083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19100" y="343849"/>
            <a:ext cx="6000750" cy="123825"/>
          </a:xfrm>
          <a:custGeom>
            <a:avLst/>
            <a:gdLst/>
            <a:ahLst/>
            <a:cxnLst/>
            <a:rect l="l" t="t" r="r" b="b"/>
            <a:pathLst>
              <a:path w="6000750" h="123825">
                <a:moveTo>
                  <a:pt x="0" y="0"/>
                </a:moveTo>
                <a:lnTo>
                  <a:pt x="6000750" y="0"/>
                </a:lnTo>
                <a:lnTo>
                  <a:pt x="600075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19100" y="343849"/>
            <a:ext cx="6000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ARCHITECTURE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9100" y="535949"/>
            <a:ext cx="4286250" cy="309562"/>
          </a:xfrm>
          <a:custGeom>
            <a:avLst/>
            <a:gdLst/>
            <a:ahLst/>
            <a:cxnLst/>
            <a:rect l="l" t="t" r="r" b="b"/>
            <a:pathLst>
              <a:path w="4286250" h="309562">
                <a:moveTo>
                  <a:pt x="0" y="0"/>
                </a:moveTo>
                <a:lnTo>
                  <a:pt x="4286250" y="0"/>
                </a:lnTo>
                <a:lnTo>
                  <a:pt x="4286250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19100" y="535949"/>
            <a:ext cx="4286250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8696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Components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9100" y="912837"/>
            <a:ext cx="5334000" cy="381000"/>
          </a:xfrm>
          <a:custGeom>
            <a:avLst/>
            <a:gdLst/>
            <a:ahLst/>
            <a:cxnLst/>
            <a:rect l="l" t="t" r="r" b="b"/>
            <a:pathLst>
              <a:path w="5334000" h="381000">
                <a:moveTo>
                  <a:pt x="0" y="0"/>
                </a:moveTo>
                <a:lnTo>
                  <a:pt x="5334000" y="0"/>
                </a:lnTo>
                <a:lnTo>
                  <a:pt x="533400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19100" y="912837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blocks define the system: control electronics on one side, and sensing plus protection on the other.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9100" y="1618469"/>
            <a:ext cx="4048125" cy="3162300"/>
          </a:xfrm>
          <a:custGeom>
            <a:avLst/>
            <a:gdLst/>
            <a:ahLst/>
            <a:cxnLst/>
            <a:rect l="l" t="t" r="r" b="b"/>
            <a:pathLst>
              <a:path w="4048125" h="3162300">
                <a:moveTo>
                  <a:pt x="38548" y="0"/>
                </a:moveTo>
                <a:lnTo>
                  <a:pt x="4009577" y="0"/>
                </a:lnTo>
                <a:quadBezTo>
                  <a:pt x="4048125" y="0"/>
                  <a:pt x="4048125" y="38548"/>
                </a:quadBezTo>
                <a:lnTo>
                  <a:pt x="4048125" y="3123752"/>
                </a:lnTo>
                <a:quadBezTo>
                  <a:pt x="4048125" y="3162300"/>
                  <a:pt x="4009577" y="3162300"/>
                </a:quadBezTo>
                <a:lnTo>
                  <a:pt x="38548" y="3162300"/>
                </a:lnTo>
                <a:quadBezTo>
                  <a:pt x="0" y="3162300"/>
                  <a:pt x="0" y="3123752"/>
                </a:quadBezTo>
                <a:lnTo>
                  <a:pt x="0" y="38548"/>
                </a:lnTo>
                <a:quadBezTo>
                  <a:pt x="0" y="0"/>
                  <a:pt x="38548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228600" dist="8572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125" y="18331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8" y="1914079"/>
            <a:ext cx="142875" cy="14287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09650" y="1817414"/>
            <a:ext cx="3257550" cy="185738"/>
          </a:xfrm>
          <a:custGeom>
            <a:avLst/>
            <a:gdLst/>
            <a:ahLst/>
            <a:cxnLst/>
            <a:rect l="l" t="t" r="r" b="b"/>
            <a:pathLst>
              <a:path w="3257550" h="185738">
                <a:moveTo>
                  <a:pt x="0" y="0"/>
                </a:moveTo>
                <a:lnTo>
                  <a:pt x="3257550" y="0"/>
                </a:lnTo>
                <a:lnTo>
                  <a:pt x="3257550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1009650" y="1817414"/>
            <a:ext cx="32575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7391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electronics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009650" y="2020937"/>
            <a:ext cx="3257550" cy="133350"/>
          </a:xfrm>
          <a:custGeom>
            <a:avLst/>
            <a:gdLst/>
            <a:ahLst/>
            <a:cxnLst/>
            <a:rect l="l" t="t" r="r" b="b"/>
            <a:pathLst>
              <a:path w="3257550" h="133350">
                <a:moveTo>
                  <a:pt x="0" y="0"/>
                </a:moveTo>
                <a:lnTo>
                  <a:pt x="3257550" y="0"/>
                </a:lnTo>
                <a:lnTo>
                  <a:pt x="325755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1009650" y="2020937"/>
            <a:ext cx="3257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Microcontroller and relay modules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19125" y="2287116"/>
            <a:ext cx="3648075" cy="719137"/>
          </a:xfrm>
          <a:custGeom>
            <a:avLst/>
            <a:gdLst/>
            <a:ahLst/>
            <a:cxnLst/>
            <a:rect l="l" t="t" r="r" b="b"/>
            <a:pathLst>
              <a:path w="3648075" h="719137">
                <a:moveTo>
                  <a:pt x="0" y="0"/>
                </a:moveTo>
                <a:lnTo>
                  <a:pt x="3648075" y="0"/>
                </a:lnTo>
                <a:lnTo>
                  <a:pt x="3648075" y="719137"/>
                </a:lnTo>
                <a:lnTo>
                  <a:pt x="0" y="719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619125" y="2287116"/>
            <a:ext cx="3648075" cy="71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microcontroller coordinates logic, timing, and device states, while relay modules provide safe switching between low-voltage control and load-side equipment.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19125" y="3112406"/>
            <a:ext cx="3648075" cy="538163"/>
          </a:xfrm>
          <a:custGeom>
            <a:avLst/>
            <a:gdLst/>
            <a:ahLst/>
            <a:cxnLst/>
            <a:rect l="l" t="t" r="r" b="b"/>
            <a:pathLst>
              <a:path w="3648075" h="538163">
                <a:moveTo>
                  <a:pt x="0" y="0"/>
                </a:moveTo>
                <a:lnTo>
                  <a:pt x="3648075" y="0"/>
                </a:lnTo>
                <a:lnTo>
                  <a:pt x="3648075" y="538163"/>
                </a:lnTo>
                <a:lnTo>
                  <a:pt x="0" y="538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619125" y="3112406"/>
            <a:ext cx="3648075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block is the decision layer: it receives inputs, applies rules, and drives the home automation response with clean electrical isolation.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19125" y="4028145"/>
            <a:ext cx="3648075" cy="561975"/>
          </a:xfrm>
          <a:custGeom>
            <a:avLst/>
            <a:gdLst/>
            <a:ahLst/>
            <a:cxnLst/>
            <a:rect l="l" t="t" r="r" b="b"/>
            <a:pathLst>
              <a:path w="3648075" h="561975">
                <a:moveTo>
                  <a:pt x="154981" y="0"/>
                </a:moveTo>
                <a:lnTo>
                  <a:pt x="3493094" y="0"/>
                </a:lnTo>
                <a:quadBezTo>
                  <a:pt x="3648075" y="0"/>
                  <a:pt x="3648075" y="154981"/>
                </a:quadBezTo>
                <a:lnTo>
                  <a:pt x="3648075" y="406994"/>
                </a:lnTo>
                <a:quadBezTo>
                  <a:pt x="3648075" y="561975"/>
                  <a:pt x="3493094" y="561975"/>
                </a:quadBezTo>
                <a:lnTo>
                  <a:pt x="154981" y="561975"/>
                </a:lnTo>
                <a:quadBezTo>
                  <a:pt x="0" y="561975"/>
                  <a:pt x="0" y="406994"/>
                </a:quadBezTo>
                <a:lnTo>
                  <a:pt x="0" y="154981"/>
                </a:lnTo>
                <a:quadBezTo>
                  <a:pt x="0" y="0"/>
                  <a:pt x="154981" y="0"/>
                </a:quadBezTo>
                <a:close/>
              </a:path>
            </a:pathLst>
          </a:custGeom>
          <a:solidFill>
            <a:srgbClr val="F5F8FC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4151039"/>
            <a:ext cx="104775" cy="104775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94792" y="4132456"/>
            <a:ext cx="1976437" cy="147637"/>
          </a:xfrm>
          <a:custGeom>
            <a:avLst/>
            <a:gdLst/>
            <a:ahLst/>
            <a:cxnLst/>
            <a:rect l="l" t="t" r="r" b="b"/>
            <a:pathLst>
              <a:path w="1976437" h="147637">
                <a:moveTo>
                  <a:pt x="0" y="0"/>
                </a:moveTo>
                <a:lnTo>
                  <a:pt x="1976437" y="0"/>
                </a:lnTo>
                <a:lnTo>
                  <a:pt x="1976437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894792" y="4132456"/>
            <a:ext cx="1976437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Logic control for automation rules</a:t>
            </a:r>
            <a:endParaRPr lang="en-US" sz="9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4356757"/>
            <a:ext cx="104775" cy="10477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95648" y="4338171"/>
            <a:ext cx="2066925" cy="147637"/>
          </a:xfrm>
          <a:custGeom>
            <a:avLst/>
            <a:gdLst/>
            <a:ahLst/>
            <a:cxnLst/>
            <a:rect l="l" t="t" r="r" b="b"/>
            <a:pathLst>
              <a:path w="2066925" h="147637">
                <a:moveTo>
                  <a:pt x="0" y="0"/>
                </a:moveTo>
                <a:lnTo>
                  <a:pt x="2066925" y="0"/>
                </a:lnTo>
                <a:lnTo>
                  <a:pt x="2066925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895648" y="4338171"/>
            <a:ext cx="2066925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Relay isolation for mains-side safety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676775" y="1618469"/>
            <a:ext cx="4048125" cy="3162300"/>
          </a:xfrm>
          <a:custGeom>
            <a:avLst/>
            <a:gdLst/>
            <a:ahLst/>
            <a:cxnLst/>
            <a:rect l="l" t="t" r="r" b="b"/>
            <a:pathLst>
              <a:path w="4048125" h="3162300">
                <a:moveTo>
                  <a:pt x="38548" y="0"/>
                </a:moveTo>
                <a:lnTo>
                  <a:pt x="4009577" y="0"/>
                </a:lnTo>
                <a:quadBezTo>
                  <a:pt x="4048125" y="0"/>
                  <a:pt x="4048125" y="38548"/>
                </a:quadBezTo>
                <a:lnTo>
                  <a:pt x="4048125" y="3123752"/>
                </a:lnTo>
                <a:quadBezTo>
                  <a:pt x="4048125" y="3162300"/>
                  <a:pt x="4009577" y="3162300"/>
                </a:quadBezTo>
                <a:lnTo>
                  <a:pt x="38548" y="3162300"/>
                </a:lnTo>
                <a:quadBezTo>
                  <a:pt x="0" y="3162300"/>
                  <a:pt x="0" y="3123752"/>
                </a:quadBezTo>
                <a:lnTo>
                  <a:pt x="0" y="38548"/>
                </a:lnTo>
                <a:quadBezTo>
                  <a:pt x="0" y="0"/>
                  <a:pt x="38548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228600" dist="8572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876800" y="18331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7763" y="1914079"/>
            <a:ext cx="142875" cy="142875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5267325" y="1817414"/>
            <a:ext cx="3257550" cy="185738"/>
          </a:xfrm>
          <a:custGeom>
            <a:avLst/>
            <a:gdLst/>
            <a:ahLst/>
            <a:cxnLst/>
            <a:rect l="l" t="t" r="r" b="b"/>
            <a:pathLst>
              <a:path w="3257550" h="185738">
                <a:moveTo>
                  <a:pt x="0" y="0"/>
                </a:moveTo>
                <a:lnTo>
                  <a:pt x="3257550" y="0"/>
                </a:lnTo>
                <a:lnTo>
                  <a:pt x="3257550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5267325" y="1817414"/>
            <a:ext cx="32575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7391"/>
              </a:lnSpc>
              <a:spcBef>
                <a:spcPts val="281"/>
              </a:spcBef>
              <a:buNone/>
            </a:pPr>
            <a:r>
              <a:rPr lang="en-US" sz="1299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Sensing and power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5267325" y="2020937"/>
            <a:ext cx="3257550" cy="133350"/>
          </a:xfrm>
          <a:custGeom>
            <a:avLst/>
            <a:gdLst/>
            <a:ahLst/>
            <a:cxnLst/>
            <a:rect l="l" t="t" r="r" b="b"/>
            <a:pathLst>
              <a:path w="3257550" h="133350">
                <a:moveTo>
                  <a:pt x="0" y="0"/>
                </a:moveTo>
                <a:lnTo>
                  <a:pt x="3257550" y="0"/>
                </a:lnTo>
                <a:lnTo>
                  <a:pt x="325755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29"/>
          <p:cNvSpPr/>
          <p:nvPr/>
        </p:nvSpPr>
        <p:spPr>
          <a:xfrm>
            <a:off x="5267325" y="2020937"/>
            <a:ext cx="3257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Current, occupancy, environment, protection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4876800" y="2287116"/>
            <a:ext cx="3648075" cy="719137"/>
          </a:xfrm>
          <a:custGeom>
            <a:avLst/>
            <a:gdLst/>
            <a:ahLst/>
            <a:cxnLst/>
            <a:rect l="l" t="t" r="r" b="b"/>
            <a:pathLst>
              <a:path w="3648075" h="719137">
                <a:moveTo>
                  <a:pt x="0" y="0"/>
                </a:moveTo>
                <a:lnTo>
                  <a:pt x="3648075" y="0"/>
                </a:lnTo>
                <a:lnTo>
                  <a:pt x="3648075" y="719137"/>
                </a:lnTo>
                <a:lnTo>
                  <a:pt x="0" y="719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1"/>
          <p:cNvSpPr/>
          <p:nvPr/>
        </p:nvSpPr>
        <p:spPr>
          <a:xfrm>
            <a:off x="4876800" y="2287116"/>
            <a:ext cx="3648075" cy="71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and voltage sensing give feedback on load behavior, occupancy and environmental sensors capture room context, and the supply stage conditions stable power for the entire stack.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4876800" y="3112406"/>
            <a:ext cx="3648075" cy="538163"/>
          </a:xfrm>
          <a:custGeom>
            <a:avLst/>
            <a:gdLst/>
            <a:ahLst/>
            <a:cxnLst/>
            <a:rect l="l" t="t" r="r" b="b"/>
            <a:pathLst>
              <a:path w="3648075" h="538163">
                <a:moveTo>
                  <a:pt x="0" y="0"/>
                </a:moveTo>
                <a:lnTo>
                  <a:pt x="3648075" y="0"/>
                </a:lnTo>
                <a:lnTo>
                  <a:pt x="3648075" y="538163"/>
                </a:lnTo>
                <a:lnTo>
                  <a:pt x="0" y="538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4876800" y="3112406"/>
            <a:ext cx="3648075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Protection circuitry keeps the system robust by handling regulation, isolation, and fault-aware operation before signals reach the controller.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4876800" y="4028145"/>
            <a:ext cx="3648075" cy="561975"/>
          </a:xfrm>
          <a:custGeom>
            <a:avLst/>
            <a:gdLst/>
            <a:ahLst/>
            <a:cxnLst/>
            <a:rect l="l" t="t" r="r" b="b"/>
            <a:pathLst>
              <a:path w="3648075" h="561975">
                <a:moveTo>
                  <a:pt x="154981" y="0"/>
                </a:moveTo>
                <a:lnTo>
                  <a:pt x="3493094" y="0"/>
                </a:lnTo>
                <a:quadBezTo>
                  <a:pt x="3648075" y="0"/>
                  <a:pt x="3648075" y="154981"/>
                </a:quadBezTo>
                <a:lnTo>
                  <a:pt x="3648075" y="406994"/>
                </a:lnTo>
                <a:quadBezTo>
                  <a:pt x="3648075" y="561975"/>
                  <a:pt x="3493094" y="561975"/>
                </a:quadBezTo>
                <a:lnTo>
                  <a:pt x="154981" y="561975"/>
                </a:lnTo>
                <a:quadBezTo>
                  <a:pt x="0" y="561975"/>
                  <a:pt x="0" y="406994"/>
                </a:quadBezTo>
                <a:lnTo>
                  <a:pt x="0" y="154981"/>
                </a:lnTo>
                <a:quadBezTo>
                  <a:pt x="0" y="0"/>
                  <a:pt x="154981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1100" y="4151039"/>
            <a:ext cx="104775" cy="104775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5152653" y="4132456"/>
            <a:ext cx="2300288" cy="147637"/>
          </a:xfrm>
          <a:custGeom>
            <a:avLst/>
            <a:gdLst/>
            <a:ahLst/>
            <a:cxnLst/>
            <a:rect l="l" t="t" r="r" b="b"/>
            <a:pathLst>
              <a:path w="2300288" h="147637">
                <a:moveTo>
                  <a:pt x="0" y="0"/>
                </a:moveTo>
                <a:lnTo>
                  <a:pt x="2300288" y="0"/>
                </a:lnTo>
                <a:lnTo>
                  <a:pt x="2300288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4" name="Text 36"/>
          <p:cNvSpPr/>
          <p:nvPr/>
        </p:nvSpPr>
        <p:spPr>
          <a:xfrm>
            <a:off x="5152653" y="4132456"/>
            <a:ext cx="2300288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Feedback signals from sensing circuitry</a:t>
            </a:r>
            <a:endParaRPr lang="en-US" sz="900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1100" y="4356757"/>
            <a:ext cx="104775" cy="104775"/>
          </a:xfrm>
          <a:prstGeom prst="rect">
            <a:avLst/>
          </a:prstGeom>
        </p:spPr>
      </p:pic>
      <p:sp>
        <p:nvSpPr>
          <p:cNvPr id="46" name="Shape 37"/>
          <p:cNvSpPr/>
          <p:nvPr/>
        </p:nvSpPr>
        <p:spPr>
          <a:xfrm>
            <a:off x="5152672" y="4338171"/>
            <a:ext cx="2209800" cy="147637"/>
          </a:xfrm>
          <a:custGeom>
            <a:avLst/>
            <a:gdLst/>
            <a:ahLst/>
            <a:cxnLst/>
            <a:rect l="l" t="t" r="r" b="b"/>
            <a:pathLst>
              <a:path w="2209800" h="147637">
                <a:moveTo>
                  <a:pt x="0" y="0"/>
                </a:moveTo>
                <a:lnTo>
                  <a:pt x="2209800" y="0"/>
                </a:lnTo>
                <a:lnTo>
                  <a:pt x="2209800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7" name="Text 38"/>
          <p:cNvSpPr/>
          <p:nvPr/>
        </p:nvSpPr>
        <p:spPr>
          <a:xfrm>
            <a:off x="5152672" y="4338171"/>
            <a:ext cx="22098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Protected power for reliable operation</a:t>
            </a:r>
            <a:endParaRPr lang="en-US" sz="9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9030A68-61EC-B969-A2B3-DFD1B5CF9DC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187293" y="116001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19100" y="343849"/>
            <a:ext cx="8305800" cy="123825"/>
          </a:xfrm>
          <a:custGeom>
            <a:avLst/>
            <a:gdLst/>
            <a:ahLst/>
            <a:cxnLst/>
            <a:rect l="l" t="t" r="r" b="b"/>
            <a:pathLst>
              <a:path w="8305800" h="123825">
                <a:moveTo>
                  <a:pt x="0" y="0"/>
                </a:moveTo>
                <a:lnTo>
                  <a:pt x="8305800" y="0"/>
                </a:lnTo>
                <a:lnTo>
                  <a:pt x="830580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19100" y="343849"/>
            <a:ext cx="83058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SOFTWARE ARCHITECTURE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9100" y="534330"/>
            <a:ext cx="5905500" cy="661987"/>
          </a:xfrm>
          <a:custGeom>
            <a:avLst/>
            <a:gdLst/>
            <a:ahLst/>
            <a:cxnLst/>
            <a:rect l="l" t="t" r="r" b="b"/>
            <a:pathLst>
              <a:path w="5905500" h="661987">
                <a:moveTo>
                  <a:pt x="0" y="0"/>
                </a:moveTo>
                <a:lnTo>
                  <a:pt x="5905500" y="0"/>
                </a:lnTo>
                <a:lnTo>
                  <a:pt x="5905500" y="661987"/>
                </a:lnTo>
                <a:lnTo>
                  <a:pt x="0" y="6619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19100" y="534330"/>
            <a:ext cx="5905500" cy="661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913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Software and Communication Stack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9100" y="1281521"/>
            <a:ext cx="6000750" cy="395287"/>
          </a:xfrm>
          <a:custGeom>
            <a:avLst/>
            <a:gdLst/>
            <a:ahLst/>
            <a:cxnLst/>
            <a:rect l="l" t="t" r="r" b="b"/>
            <a:pathLst>
              <a:path w="6000750" h="395287">
                <a:moveTo>
                  <a:pt x="0" y="0"/>
                </a:moveTo>
                <a:lnTo>
                  <a:pt x="6000750" y="0"/>
                </a:lnTo>
                <a:lnTo>
                  <a:pt x="6000750" y="395287"/>
                </a:lnTo>
                <a:lnTo>
                  <a:pt x="0" y="3952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19100" y="1281521"/>
            <a:ext cx="6000750" cy="39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Embedded control on one side, data services and user access on the other — connected by stable protocols.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9100" y="1944494"/>
            <a:ext cx="4057650" cy="2114550"/>
          </a:xfrm>
          <a:custGeom>
            <a:avLst/>
            <a:gdLst/>
            <a:ahLst/>
            <a:cxnLst/>
            <a:rect l="l" t="t" r="r" b="b"/>
            <a:pathLst>
              <a:path w="4057650" h="2114550">
                <a:moveTo>
                  <a:pt x="57664" y="0"/>
                </a:moveTo>
                <a:lnTo>
                  <a:pt x="3999986" y="0"/>
                </a:lnTo>
                <a:quadBezTo>
                  <a:pt x="4057650" y="0"/>
                  <a:pt x="4057650" y="57664"/>
                </a:quadBezTo>
                <a:lnTo>
                  <a:pt x="4057650" y="2056886"/>
                </a:lnTo>
                <a:quadBezTo>
                  <a:pt x="4057650" y="2114550"/>
                  <a:pt x="3999986" y="2114550"/>
                </a:quadBezTo>
                <a:lnTo>
                  <a:pt x="57664" y="2114550"/>
                </a:lnTo>
                <a:quadBezTo>
                  <a:pt x="0" y="2114550"/>
                  <a:pt x="0" y="2056886"/>
                </a:quadBezTo>
                <a:lnTo>
                  <a:pt x="0" y="57664"/>
                </a:lnTo>
                <a:quadBezTo>
                  <a:pt x="0" y="0"/>
                  <a:pt x="57664" y="0"/>
                </a:quadBezTo>
                <a:close/>
              </a:path>
            </a:pathLst>
          </a:custGeom>
          <a:solidFill>
            <a:srgbClr val="EAF2F8"/>
          </a:solidFill>
          <a:ln w="4786">
            <a:solidFill>
              <a:srgbClr val="D8E4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4363" y="218539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14" name="Shape 11"/>
          <p:cNvSpPr/>
          <p:nvPr/>
        </p:nvSpPr>
        <p:spPr>
          <a:xfrm>
            <a:off x="748513" y="2130642"/>
            <a:ext cx="1581150" cy="176212"/>
          </a:xfrm>
          <a:custGeom>
            <a:avLst/>
            <a:gdLst/>
            <a:ahLst/>
            <a:cxnLst/>
            <a:rect l="l" t="t" r="r" b="b"/>
            <a:pathLst>
              <a:path w="1581150" h="176212">
                <a:moveTo>
                  <a:pt x="0" y="0"/>
                </a:moveTo>
                <a:lnTo>
                  <a:pt x="1581150" y="0"/>
                </a:lnTo>
                <a:lnTo>
                  <a:pt x="1581150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48513" y="2130642"/>
            <a:ext cx="1581150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Embedded control</a:t>
            </a:r>
            <a:endParaRPr lang="en-US" sz="9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2431628"/>
            <a:ext cx="123825" cy="12382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15429" y="2411388"/>
            <a:ext cx="2800350" cy="195263"/>
          </a:xfrm>
          <a:custGeom>
            <a:avLst/>
            <a:gdLst/>
            <a:ahLst/>
            <a:cxnLst/>
            <a:rect l="l" t="t" r="r" b="b"/>
            <a:pathLst>
              <a:path w="2800350" h="195263">
                <a:moveTo>
                  <a:pt x="0" y="0"/>
                </a:moveTo>
                <a:lnTo>
                  <a:pt x="2800350" y="0"/>
                </a:lnTo>
                <a:lnTo>
                  <a:pt x="2800350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815429" y="2411388"/>
            <a:ext cx="2800350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Embedded firmware for device control</a:t>
            </a:r>
            <a:endParaRPr lang="en-US" sz="9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2729285"/>
            <a:ext cx="123825" cy="12382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13755" y="2709045"/>
            <a:ext cx="2824163" cy="195263"/>
          </a:xfrm>
          <a:custGeom>
            <a:avLst/>
            <a:gdLst/>
            <a:ahLst/>
            <a:cxnLst/>
            <a:rect l="l" t="t" r="r" b="b"/>
            <a:pathLst>
              <a:path w="2824163" h="195263">
                <a:moveTo>
                  <a:pt x="0" y="0"/>
                </a:moveTo>
                <a:lnTo>
                  <a:pt x="2824163" y="0"/>
                </a:lnTo>
                <a:lnTo>
                  <a:pt x="2824163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13755" y="2709045"/>
            <a:ext cx="2824163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MQTT and HTTP handle data exchange</a:t>
            </a:r>
            <a:endParaRPr lang="en-US" sz="9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3026941"/>
            <a:ext cx="123825" cy="123825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14388" y="3007891"/>
            <a:ext cx="3467100" cy="385763"/>
          </a:xfrm>
          <a:custGeom>
            <a:avLst/>
            <a:gdLst/>
            <a:ahLst/>
            <a:cxnLst/>
            <a:rect l="l" t="t" r="r" b="b"/>
            <a:pathLst>
              <a:path w="3467100" h="385763">
                <a:moveTo>
                  <a:pt x="0" y="0"/>
                </a:moveTo>
                <a:lnTo>
                  <a:pt x="3467100" y="0"/>
                </a:lnTo>
                <a:lnTo>
                  <a:pt x="346710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814388" y="3007891"/>
            <a:ext cx="34671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Stable protocol layer between hardware and software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14363" y="3630011"/>
            <a:ext cx="3667125" cy="261937"/>
          </a:xfrm>
          <a:custGeom>
            <a:avLst/>
            <a:gdLst/>
            <a:ahLst/>
            <a:cxnLst/>
            <a:rect l="l" t="t" r="r" b="b"/>
            <a:pathLst>
              <a:path w="3667125" h="261937">
                <a:moveTo>
                  <a:pt x="0" y="0"/>
                </a:moveTo>
                <a:lnTo>
                  <a:pt x="3667125" y="0"/>
                </a:lnTo>
                <a:lnTo>
                  <a:pt x="3667125" y="261937"/>
                </a:lnTo>
                <a:lnTo>
                  <a:pt x="0" y="2619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3758580"/>
            <a:ext cx="114300" cy="1143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85273" y="3739548"/>
            <a:ext cx="2366963" cy="152400"/>
          </a:xfrm>
          <a:custGeom>
            <a:avLst/>
            <a:gdLst/>
            <a:ahLst/>
            <a:cxnLst/>
            <a:rect l="l" t="t" r="r" b="b"/>
            <a:pathLst>
              <a:path w="2366963" h="152400">
                <a:moveTo>
                  <a:pt x="0" y="0"/>
                </a:moveTo>
                <a:lnTo>
                  <a:pt x="2366963" y="0"/>
                </a:lnTo>
                <a:lnTo>
                  <a:pt x="2366963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785273" y="3739548"/>
            <a:ext cx="23669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Deterministic control at the device edge.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4667250" y="1944494"/>
            <a:ext cx="4057650" cy="2114550"/>
          </a:xfrm>
          <a:custGeom>
            <a:avLst/>
            <a:gdLst/>
            <a:ahLst/>
            <a:cxnLst/>
            <a:rect l="l" t="t" r="r" b="b"/>
            <a:pathLst>
              <a:path w="4057650" h="2114550">
                <a:moveTo>
                  <a:pt x="57664" y="0"/>
                </a:moveTo>
                <a:lnTo>
                  <a:pt x="3999986" y="0"/>
                </a:lnTo>
                <a:quadBezTo>
                  <a:pt x="4057650" y="0"/>
                  <a:pt x="4057650" y="57664"/>
                </a:quadBezTo>
                <a:lnTo>
                  <a:pt x="4057650" y="2056886"/>
                </a:lnTo>
                <a:quadBezTo>
                  <a:pt x="4057650" y="2114550"/>
                  <a:pt x="3999986" y="2114550"/>
                </a:quadBezTo>
                <a:lnTo>
                  <a:pt x="57664" y="2114550"/>
                </a:lnTo>
                <a:quadBezTo>
                  <a:pt x="0" y="2114550"/>
                  <a:pt x="0" y="2056886"/>
                </a:quadBezTo>
                <a:lnTo>
                  <a:pt x="0" y="57664"/>
                </a:lnTo>
                <a:quadBezTo>
                  <a:pt x="0" y="0"/>
                  <a:pt x="57664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14300" dist="38100" dir="2700000" algn="bl" rotWithShape="0">
              <a:srgbClr val="102A43">
                <a:alpha val="5882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57750" y="2180629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31" name="Shape 24"/>
          <p:cNvSpPr/>
          <p:nvPr/>
        </p:nvSpPr>
        <p:spPr>
          <a:xfrm>
            <a:off x="4989965" y="2125880"/>
            <a:ext cx="1714500" cy="176212"/>
          </a:xfrm>
          <a:custGeom>
            <a:avLst/>
            <a:gdLst/>
            <a:ahLst/>
            <a:cxnLst/>
            <a:rect l="l" t="t" r="r" b="b"/>
            <a:pathLst>
              <a:path w="1714500" h="176212">
                <a:moveTo>
                  <a:pt x="0" y="0"/>
                </a:moveTo>
                <a:lnTo>
                  <a:pt x="1714500" y="0"/>
                </a:lnTo>
                <a:lnTo>
                  <a:pt x="1714500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4989965" y="2125880"/>
            <a:ext cx="1714500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services</a:t>
            </a:r>
            <a:endParaRPr lang="en-US" sz="9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2426866"/>
            <a:ext cx="123825" cy="123825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5057682" y="2406625"/>
            <a:ext cx="2747962" cy="195263"/>
          </a:xfrm>
          <a:custGeom>
            <a:avLst/>
            <a:gdLst/>
            <a:ahLst/>
            <a:cxnLst/>
            <a:rect l="l" t="t" r="r" b="b"/>
            <a:pathLst>
              <a:path w="2747962" h="195263">
                <a:moveTo>
                  <a:pt x="0" y="0"/>
                </a:moveTo>
                <a:lnTo>
                  <a:pt x="2747962" y="0"/>
                </a:lnTo>
                <a:lnTo>
                  <a:pt x="2747962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7"/>
          <p:cNvSpPr/>
          <p:nvPr/>
        </p:nvSpPr>
        <p:spPr>
          <a:xfrm>
            <a:off x="5057682" y="2406625"/>
            <a:ext cx="2747962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for historical energy records</a:t>
            </a:r>
            <a:endParaRPr lang="en-US" sz="9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2724522"/>
            <a:ext cx="123825" cy="123825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5058110" y="2704281"/>
            <a:ext cx="2986088" cy="195263"/>
          </a:xfrm>
          <a:custGeom>
            <a:avLst/>
            <a:gdLst/>
            <a:ahLst/>
            <a:cxnLst/>
            <a:rect l="l" t="t" r="r" b="b"/>
            <a:pathLst>
              <a:path w="2986088" h="195263">
                <a:moveTo>
                  <a:pt x="0" y="0"/>
                </a:moveTo>
                <a:lnTo>
                  <a:pt x="2986088" y="0"/>
                </a:lnTo>
                <a:lnTo>
                  <a:pt x="2986088" y="195263"/>
                </a:lnTo>
                <a:lnTo>
                  <a:pt x="0" y="1952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29"/>
          <p:cNvSpPr/>
          <p:nvPr/>
        </p:nvSpPr>
        <p:spPr>
          <a:xfrm>
            <a:off x="5058110" y="2704281"/>
            <a:ext cx="2986088" cy="195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 and mobile interface for user access</a:t>
            </a:r>
            <a:endParaRPr lang="en-US" sz="9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3022178"/>
            <a:ext cx="123825" cy="123825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5057775" y="3003128"/>
            <a:ext cx="3476625" cy="385763"/>
          </a:xfrm>
          <a:custGeom>
            <a:avLst/>
            <a:gdLst/>
            <a:ahLst/>
            <a:cxnLst/>
            <a:rect l="l" t="t" r="r" b="b"/>
            <a:pathLst>
              <a:path w="3476625" h="385763">
                <a:moveTo>
                  <a:pt x="0" y="0"/>
                </a:moveTo>
                <a:lnTo>
                  <a:pt x="3476625" y="0"/>
                </a:lnTo>
                <a:lnTo>
                  <a:pt x="3476625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1"/>
          <p:cNvSpPr/>
          <p:nvPr/>
        </p:nvSpPr>
        <p:spPr>
          <a:xfrm>
            <a:off x="5057775" y="3003128"/>
            <a:ext cx="3476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access layer for monitoring and interaction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4857750" y="3634773"/>
            <a:ext cx="3676650" cy="261937"/>
          </a:xfrm>
          <a:custGeom>
            <a:avLst/>
            <a:gdLst/>
            <a:ahLst/>
            <a:cxnLst/>
            <a:rect l="l" t="t" r="r" b="b"/>
            <a:pathLst>
              <a:path w="3676650" h="261937">
                <a:moveTo>
                  <a:pt x="0" y="0"/>
                </a:moveTo>
                <a:lnTo>
                  <a:pt x="3676650" y="0"/>
                </a:lnTo>
                <a:lnTo>
                  <a:pt x="3676650" y="261937"/>
                </a:lnTo>
                <a:lnTo>
                  <a:pt x="0" y="2619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3763341"/>
            <a:ext cx="114300" cy="114300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5028437" y="3744311"/>
            <a:ext cx="2676525" cy="152400"/>
          </a:xfrm>
          <a:custGeom>
            <a:avLst/>
            <a:gdLst/>
            <a:ahLst/>
            <a:cxnLst/>
            <a:rect l="l" t="t" r="r" b="b"/>
            <a:pathLst>
              <a:path w="2676525" h="152400">
                <a:moveTo>
                  <a:pt x="0" y="0"/>
                </a:moveTo>
                <a:lnTo>
                  <a:pt x="2676525" y="0"/>
                </a:lnTo>
                <a:lnTo>
                  <a:pt x="2676525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4"/>
          <p:cNvSpPr/>
          <p:nvPr/>
        </p:nvSpPr>
        <p:spPr>
          <a:xfrm>
            <a:off x="5028437" y="3744311"/>
            <a:ext cx="26765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User-facing services sit above the device layer.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419100" y="4249116"/>
            <a:ext cx="8305800" cy="590550"/>
          </a:xfrm>
          <a:custGeom>
            <a:avLst/>
            <a:gdLst/>
            <a:ahLst/>
            <a:cxnLst/>
            <a:rect l="l" t="t" r="r" b="b"/>
            <a:pathLst>
              <a:path w="8305800" h="590550">
                <a:moveTo>
                  <a:pt x="176982" y="0"/>
                </a:moveTo>
                <a:lnTo>
                  <a:pt x="8128818" y="0"/>
                </a:lnTo>
                <a:quadBezTo>
                  <a:pt x="8305800" y="0"/>
                  <a:pt x="8305800" y="176982"/>
                </a:quadBezTo>
                <a:lnTo>
                  <a:pt x="8305800" y="413568"/>
                </a:lnTo>
                <a:quadBezTo>
                  <a:pt x="8305800" y="590550"/>
                  <a:pt x="8128818" y="590550"/>
                </a:quadBezTo>
                <a:lnTo>
                  <a:pt x="176982" y="590550"/>
                </a:lnTo>
                <a:quadBezTo>
                  <a:pt x="0" y="590550"/>
                  <a:pt x="0" y="413568"/>
                </a:quadBezTo>
                <a:lnTo>
                  <a:pt x="0" y="176982"/>
                </a:lnTo>
                <a:quadBezTo>
                  <a:pt x="0" y="0"/>
                  <a:pt x="176982" y="0"/>
                </a:quadBezTo>
                <a:close/>
              </a:path>
            </a:pathLst>
          </a:custGeom>
          <a:solidFill>
            <a:srgbClr val="0B2E59"/>
          </a:solidFill>
          <a:ln/>
        </p:spPr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487241"/>
            <a:ext cx="114300" cy="114300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752624" y="4463430"/>
            <a:ext cx="466725" cy="161925"/>
          </a:xfrm>
          <a:custGeom>
            <a:avLst/>
            <a:gdLst/>
            <a:ahLst/>
            <a:cxnLst/>
            <a:rect l="l" t="t" r="r" b="b"/>
            <a:pathLst>
              <a:path w="466725" h="161925">
                <a:moveTo>
                  <a:pt x="0" y="0"/>
                </a:moveTo>
                <a:lnTo>
                  <a:pt x="466725" y="0"/>
                </a:lnTo>
                <a:lnTo>
                  <a:pt x="466725" y="161925"/>
                </a:lnTo>
                <a:lnTo>
                  <a:pt x="0" y="1619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37"/>
          <p:cNvSpPr/>
          <p:nvPr/>
        </p:nvSpPr>
        <p:spPr>
          <a:xfrm>
            <a:off x="752624" y="4463430"/>
            <a:ext cx="4667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609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Verdict</a:t>
            </a:r>
            <a:endParaRPr lang="en-US" sz="900" dirty="0"/>
          </a:p>
        </p:txBody>
      </p:sp>
      <p:sp>
        <p:nvSpPr>
          <p:cNvPr id="50" name="Shape 38"/>
          <p:cNvSpPr/>
          <p:nvPr/>
        </p:nvSpPr>
        <p:spPr>
          <a:xfrm>
            <a:off x="1714500" y="4363416"/>
            <a:ext cx="6858000" cy="361950"/>
          </a:xfrm>
          <a:custGeom>
            <a:avLst/>
            <a:gdLst/>
            <a:ahLst/>
            <a:cxnLst/>
            <a:rect l="l" t="t" r="r" b="b"/>
            <a:pathLst>
              <a:path w="6858000" h="361950">
                <a:moveTo>
                  <a:pt x="0" y="0"/>
                </a:moveTo>
                <a:lnTo>
                  <a:pt x="6858000" y="0"/>
                </a:lnTo>
                <a:lnTo>
                  <a:pt x="6858000" y="361950"/>
                </a:lnTo>
                <a:lnTo>
                  <a:pt x="0" y="3619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1" name="Text 39"/>
          <p:cNvSpPr/>
          <p:nvPr/>
        </p:nvSpPr>
        <p:spPr>
          <a:xfrm>
            <a:off x="1714500" y="4363416"/>
            <a:ext cx="6858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Firmware controls the hardware; protocols move data; storage and interfaces turn signals into usable insight.</a:t>
            </a:r>
            <a:endParaRPr lang="en-US" sz="900" dirty="0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363" y="3630011"/>
            <a:ext cx="3667125" cy="261937"/>
          </a:xfrm>
          <a:prstGeom prst="rect">
            <a:avLst/>
          </a:prstGeom>
        </p:spPr>
      </p:pic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0" y="3634773"/>
            <a:ext cx="3676650" cy="26193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EFE9EAF3-8D3F-0EFB-6CB4-5EB84ACA197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21BC1F-492E-44E7-EF2A-6DD56A397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" y="0"/>
            <a:ext cx="91391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41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362880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7" name="Shape 4"/>
          <p:cNvSpPr/>
          <p:nvPr/>
        </p:nvSpPr>
        <p:spPr>
          <a:xfrm>
            <a:off x="579853" y="343849"/>
            <a:ext cx="2900363" cy="123825"/>
          </a:xfrm>
          <a:custGeom>
            <a:avLst/>
            <a:gdLst/>
            <a:ahLst/>
            <a:cxnLst/>
            <a:rect l="l" t="t" r="r" b="b"/>
            <a:pathLst>
              <a:path w="2900363" h="123825">
                <a:moveTo>
                  <a:pt x="0" y="0"/>
                </a:moveTo>
                <a:lnTo>
                  <a:pt x="2900363" y="0"/>
                </a:lnTo>
                <a:lnTo>
                  <a:pt x="2900363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79853" y="343849"/>
            <a:ext cx="29003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LOGIC AND AUTOMATION RULES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8625" y="536228"/>
            <a:ext cx="5905500" cy="638175"/>
          </a:xfrm>
          <a:custGeom>
            <a:avLst/>
            <a:gdLst/>
            <a:ahLst/>
            <a:cxnLst/>
            <a:rect l="l" t="t" r="r" b="b"/>
            <a:pathLst>
              <a:path w="5905500" h="638175">
                <a:moveTo>
                  <a:pt x="0" y="0"/>
                </a:moveTo>
                <a:lnTo>
                  <a:pt x="5905500" y="0"/>
                </a:lnTo>
                <a:lnTo>
                  <a:pt x="5905500" y="638175"/>
                </a:lnTo>
                <a:lnTo>
                  <a:pt x="0" y="6381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536228"/>
            <a:ext cx="59055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1304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Clear rules make the home system predictable, safe, and efficient.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28625" y="1242008"/>
            <a:ext cx="5619750" cy="385763"/>
          </a:xfrm>
          <a:custGeom>
            <a:avLst/>
            <a:gdLst/>
            <a:ahLst/>
            <a:cxnLst/>
            <a:rect l="l" t="t" r="r" b="b"/>
            <a:pathLst>
              <a:path w="5619750" h="385763">
                <a:moveTo>
                  <a:pt x="0" y="0"/>
                </a:moveTo>
                <a:lnTo>
                  <a:pt x="5619750" y="0"/>
                </a:lnTo>
                <a:lnTo>
                  <a:pt x="56197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28625" y="1242008"/>
            <a:ext cx="5619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rule is triggered by a simple signal: occupancy, time, thresholds, or user override.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28346" y="1923548"/>
            <a:ext cx="5124450" cy="2876550"/>
          </a:xfrm>
          <a:custGeom>
            <a:avLst/>
            <a:gdLst/>
            <a:ahLst/>
            <a:cxnLst/>
            <a:rect l="l" t="t" r="r" b="b"/>
            <a:pathLst>
              <a:path w="5124450" h="2876550">
                <a:moveTo>
                  <a:pt x="42400" y="0"/>
                </a:moveTo>
                <a:lnTo>
                  <a:pt x="5082050" y="0"/>
                </a:lnTo>
                <a:quadBezTo>
                  <a:pt x="5124450" y="0"/>
                  <a:pt x="5124450" y="42400"/>
                </a:quadBezTo>
                <a:lnTo>
                  <a:pt x="5124450" y="2834150"/>
                </a:lnTo>
                <a:quadBezTo>
                  <a:pt x="5124450" y="2876550"/>
                  <a:pt x="5082050" y="2876550"/>
                </a:quadBezTo>
                <a:lnTo>
                  <a:pt x="42400" y="2876550"/>
                </a:lnTo>
                <a:quadBezTo>
                  <a:pt x="0" y="2876550"/>
                  <a:pt x="0" y="2834150"/>
                </a:quadBezTo>
                <a:lnTo>
                  <a:pt x="0" y="42400"/>
                </a:lnTo>
                <a:quadBezTo>
                  <a:pt x="0" y="0"/>
                  <a:pt x="4240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4762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7700" y="2986757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15" name="Shape 12"/>
          <p:cNvSpPr/>
          <p:nvPr/>
        </p:nvSpPr>
        <p:spPr>
          <a:xfrm>
            <a:off x="818741" y="2933179"/>
            <a:ext cx="3228975" cy="204787"/>
          </a:xfrm>
          <a:custGeom>
            <a:avLst/>
            <a:gdLst/>
            <a:ahLst/>
            <a:cxnLst/>
            <a:rect l="l" t="t" r="r" b="b"/>
            <a:pathLst>
              <a:path w="3228975" h="204787">
                <a:moveTo>
                  <a:pt x="0" y="0"/>
                </a:moveTo>
                <a:lnTo>
                  <a:pt x="3228975" y="0"/>
                </a:lnTo>
                <a:lnTo>
                  <a:pt x="3228975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18741" y="2933179"/>
            <a:ext cx="3228975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Occupancy-based appliance switching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7700" y="3312988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18" name="Shape 15"/>
          <p:cNvSpPr/>
          <p:nvPr/>
        </p:nvSpPr>
        <p:spPr>
          <a:xfrm>
            <a:off x="819485" y="3259411"/>
            <a:ext cx="2690812" cy="204787"/>
          </a:xfrm>
          <a:custGeom>
            <a:avLst/>
            <a:gdLst/>
            <a:ahLst/>
            <a:cxnLst/>
            <a:rect l="l" t="t" r="r" b="b"/>
            <a:pathLst>
              <a:path w="2690812" h="204787">
                <a:moveTo>
                  <a:pt x="0" y="0"/>
                </a:moveTo>
                <a:lnTo>
                  <a:pt x="2690812" y="0"/>
                </a:lnTo>
                <a:lnTo>
                  <a:pt x="2690812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819485" y="3259411"/>
            <a:ext cx="2690812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Time-based scheduling routines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7700" y="3639221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21" name="Shape 18"/>
          <p:cNvSpPr/>
          <p:nvPr/>
        </p:nvSpPr>
        <p:spPr>
          <a:xfrm>
            <a:off x="818051" y="3585642"/>
            <a:ext cx="2543175" cy="204787"/>
          </a:xfrm>
          <a:custGeom>
            <a:avLst/>
            <a:gdLst/>
            <a:ahLst/>
            <a:cxnLst/>
            <a:rect l="l" t="t" r="r" b="b"/>
            <a:pathLst>
              <a:path w="2543175" h="204787">
                <a:moveTo>
                  <a:pt x="0" y="0"/>
                </a:moveTo>
                <a:lnTo>
                  <a:pt x="2543175" y="0"/>
                </a:lnTo>
                <a:lnTo>
                  <a:pt x="2543175" y="204787"/>
                </a:lnTo>
                <a:lnTo>
                  <a:pt x="0" y="2047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818051" y="3585642"/>
            <a:ext cx="2543175" cy="20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Threshold-based energy alerts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819496" y="1923548"/>
            <a:ext cx="2895600" cy="2876550"/>
          </a:xfrm>
          <a:custGeom>
            <a:avLst/>
            <a:gdLst/>
            <a:ahLst/>
            <a:cxnLst/>
            <a:rect l="l" t="t" r="r" b="b"/>
            <a:pathLst>
              <a:path w="2895600" h="2876550">
                <a:moveTo>
                  <a:pt x="42400" y="0"/>
                </a:moveTo>
                <a:lnTo>
                  <a:pt x="2853200" y="0"/>
                </a:lnTo>
                <a:quadBezTo>
                  <a:pt x="2895600" y="0"/>
                  <a:pt x="2895600" y="42400"/>
                </a:quadBezTo>
                <a:lnTo>
                  <a:pt x="2895600" y="2834150"/>
                </a:lnTo>
                <a:quadBezTo>
                  <a:pt x="2895600" y="2876550"/>
                  <a:pt x="2853200" y="2876550"/>
                </a:quadBezTo>
                <a:lnTo>
                  <a:pt x="42400" y="2876550"/>
                </a:lnTo>
                <a:quadBezTo>
                  <a:pt x="0" y="2876550"/>
                  <a:pt x="0" y="2834150"/>
                </a:quadBezTo>
                <a:lnTo>
                  <a:pt x="0" y="42400"/>
                </a:lnTo>
                <a:quadBezTo>
                  <a:pt x="0" y="0"/>
                  <a:pt x="42400" y="0"/>
                </a:quadBez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24" name="Shape 21"/>
          <p:cNvSpPr/>
          <p:nvPr/>
        </p:nvSpPr>
        <p:spPr>
          <a:xfrm>
            <a:off x="6019521" y="2133060"/>
            <a:ext cx="2495550" cy="114300"/>
          </a:xfrm>
          <a:custGeom>
            <a:avLst/>
            <a:gdLst/>
            <a:ahLst/>
            <a:cxnLst/>
            <a:rect l="l" t="t" r="r" b="b"/>
            <a:pathLst>
              <a:path w="2495550" h="114300">
                <a:moveTo>
                  <a:pt x="0" y="0"/>
                </a:moveTo>
                <a:lnTo>
                  <a:pt x="2495550" y="0"/>
                </a:lnTo>
                <a:lnTo>
                  <a:pt x="249555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019521" y="2133060"/>
            <a:ext cx="2495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261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7DD3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SAFETY OVERRIDE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019242" y="2333551"/>
            <a:ext cx="2000250" cy="438150"/>
          </a:xfrm>
          <a:custGeom>
            <a:avLst/>
            <a:gdLst/>
            <a:ahLst/>
            <a:cxnLst/>
            <a:rect l="l" t="t" r="r" b="b"/>
            <a:pathLst>
              <a:path w="2000250" h="438150">
                <a:moveTo>
                  <a:pt x="0" y="0"/>
                </a:moveTo>
                <a:lnTo>
                  <a:pt x="2000250" y="0"/>
                </a:lnTo>
                <a:lnTo>
                  <a:pt x="2000250" y="438150"/>
                </a:lnTo>
                <a:lnTo>
                  <a:pt x="0" y="4381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6019242" y="2333551"/>
            <a:ext cx="2000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control always has priority.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019242" y="2857630"/>
            <a:ext cx="2000250" cy="538163"/>
          </a:xfrm>
          <a:custGeom>
            <a:avLst/>
            <a:gdLst/>
            <a:ahLst/>
            <a:cxnLst/>
            <a:rect l="l" t="t" r="r" b="b"/>
            <a:pathLst>
              <a:path w="2000250" h="538163">
                <a:moveTo>
                  <a:pt x="0" y="0"/>
                </a:moveTo>
                <a:lnTo>
                  <a:pt x="2000250" y="0"/>
                </a:lnTo>
                <a:lnTo>
                  <a:pt x="2000250" y="538163"/>
                </a:lnTo>
                <a:lnTo>
                  <a:pt x="0" y="538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6019242" y="2857630"/>
            <a:ext cx="2000250" cy="538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D7E6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a user intervenes, the system pauses automation to protect comfort and safety.</a:t>
            </a:r>
            <a:endParaRPr lang="en-US" sz="9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242" y="4391991"/>
            <a:ext cx="123825" cy="123825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6210021" y="4315791"/>
            <a:ext cx="2305050" cy="276225"/>
          </a:xfrm>
          <a:custGeom>
            <a:avLst/>
            <a:gdLst/>
            <a:ahLst/>
            <a:cxnLst/>
            <a:rect l="l" t="t" r="r" b="b"/>
            <a:pathLst>
              <a:path w="2305050" h="276225">
                <a:moveTo>
                  <a:pt x="0" y="0"/>
                </a:moveTo>
                <a:lnTo>
                  <a:pt x="2305050" y="0"/>
                </a:lnTo>
                <a:lnTo>
                  <a:pt x="2305050" y="276225"/>
                </a:lnTo>
                <a:lnTo>
                  <a:pt x="0" y="2762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8"/>
          <p:cNvSpPr/>
          <p:nvPr/>
        </p:nvSpPr>
        <p:spPr>
          <a:xfrm>
            <a:off x="6210021" y="4315791"/>
            <a:ext cx="23050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Override path remains immediate and reversible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2BBBF1E-576C-3345-EB2C-9053031FBC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381000" y="343849"/>
            <a:ext cx="6000750" cy="123825"/>
          </a:xfrm>
          <a:custGeom>
            <a:avLst/>
            <a:gdLst/>
            <a:ahLst/>
            <a:cxnLst/>
            <a:rect l="l" t="t" r="r" b="b"/>
            <a:pathLst>
              <a:path w="6000750" h="123825">
                <a:moveTo>
                  <a:pt x="0" y="0"/>
                </a:moveTo>
                <a:lnTo>
                  <a:pt x="6000750" y="0"/>
                </a:lnTo>
                <a:lnTo>
                  <a:pt x="600075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343849"/>
            <a:ext cx="6000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MONITORING DASHBOARD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1000" y="524694"/>
            <a:ext cx="5619750" cy="623888"/>
          </a:xfrm>
          <a:custGeom>
            <a:avLst/>
            <a:gdLst/>
            <a:ahLst/>
            <a:cxnLst/>
            <a:rect l="l" t="t" r="r" b="b"/>
            <a:pathLst>
              <a:path w="5619750" h="623888">
                <a:moveTo>
                  <a:pt x="0" y="0"/>
                </a:moveTo>
                <a:lnTo>
                  <a:pt x="5619750" y="0"/>
                </a:lnTo>
                <a:lnTo>
                  <a:pt x="5619750" y="623888"/>
                </a:lnTo>
                <a:lnTo>
                  <a:pt x="0" y="6238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24694"/>
            <a:ext cx="5619750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8696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load visibility across every circuit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81000" y="1204652"/>
            <a:ext cx="4667250" cy="381000"/>
          </a:xfrm>
          <a:custGeom>
            <a:avLst/>
            <a:gdLst/>
            <a:ahLst/>
            <a:cxnLst/>
            <a:rect l="l" t="t" r="r" b="b"/>
            <a:pathLst>
              <a:path w="4667250" h="381000">
                <a:moveTo>
                  <a:pt x="0" y="0"/>
                </a:moveTo>
                <a:lnTo>
                  <a:pt x="4667250" y="0"/>
                </a:lnTo>
                <a:lnTo>
                  <a:pt x="466725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81000" y="1204652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Chart-centric control view for live power, appliance consumption, trend tracking, and abnormal-load alerts.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80796" y="1795332"/>
            <a:ext cx="5381625" cy="3043238"/>
          </a:xfrm>
          <a:custGeom>
            <a:avLst/>
            <a:gdLst/>
            <a:ahLst/>
            <a:cxnLst/>
            <a:rect l="l" t="t" r="r" b="b"/>
            <a:pathLst>
              <a:path w="5381625" h="3043238">
                <a:moveTo>
                  <a:pt x="40079" y="0"/>
                </a:moveTo>
                <a:lnTo>
                  <a:pt x="5341546" y="0"/>
                </a:lnTo>
                <a:quadBezTo>
                  <a:pt x="5381625" y="0"/>
                  <a:pt x="5381625" y="40079"/>
                </a:quadBezTo>
                <a:lnTo>
                  <a:pt x="5381625" y="3003158"/>
                </a:lnTo>
                <a:quadBezTo>
                  <a:pt x="5381625" y="3043238"/>
                  <a:pt x="5341546" y="3043238"/>
                </a:quadBezTo>
                <a:lnTo>
                  <a:pt x="40079" y="3043238"/>
                </a:lnTo>
                <a:quadBezTo>
                  <a:pt x="0" y="3043238"/>
                  <a:pt x="0" y="3003158"/>
                </a:quadBezTo>
                <a:lnTo>
                  <a:pt x="0" y="40079"/>
                </a:lnTo>
                <a:quadBezTo>
                  <a:pt x="0" y="0"/>
                  <a:pt x="40079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238125" dist="8572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3577" y="1957127"/>
            <a:ext cx="3533775" cy="157163"/>
          </a:xfrm>
          <a:custGeom>
            <a:avLst/>
            <a:gdLst/>
            <a:ahLst/>
            <a:cxnLst/>
            <a:rect l="l" t="t" r="r" b="b"/>
            <a:pathLst>
              <a:path w="3533775" h="157163">
                <a:moveTo>
                  <a:pt x="0" y="0"/>
                </a:moveTo>
                <a:lnTo>
                  <a:pt x="3533775" y="0"/>
                </a:lnTo>
                <a:lnTo>
                  <a:pt x="3533775" y="157163"/>
                </a:lnTo>
                <a:lnTo>
                  <a:pt x="0" y="1571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43577" y="1957127"/>
            <a:ext cx="35337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261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 profile and usage trends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3577" y="2142381"/>
            <a:ext cx="3533775" cy="138113"/>
          </a:xfrm>
          <a:custGeom>
            <a:avLst/>
            <a:gdLst/>
            <a:ahLst/>
            <a:cxnLst/>
            <a:rect l="l" t="t" r="r" b="b"/>
            <a:pathLst>
              <a:path w="3533775" h="138113">
                <a:moveTo>
                  <a:pt x="0" y="0"/>
                </a:moveTo>
                <a:lnTo>
                  <a:pt x="3533775" y="0"/>
                </a:lnTo>
                <a:lnTo>
                  <a:pt x="353377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43577" y="2142381"/>
            <a:ext cx="353377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power and current signals with daily and weekly context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43338" y="2009031"/>
            <a:ext cx="857250" cy="219075"/>
          </a:xfrm>
          <a:custGeom>
            <a:avLst/>
            <a:gdLst/>
            <a:ahLst/>
            <a:cxnLst/>
            <a:rect l="l" t="t" r="r" b="b"/>
            <a:pathLst>
              <a:path w="857250" h="219075">
                <a:moveTo>
                  <a:pt x="109537" y="0"/>
                </a:moveTo>
                <a:lnTo>
                  <a:pt x="747713" y="0"/>
                </a:lnTo>
                <a:quadBezTo>
                  <a:pt x="857250" y="0"/>
                  <a:pt x="857250" y="109537"/>
                </a:quadBezTo>
                <a:lnTo>
                  <a:pt x="857250" y="109537"/>
                </a:lnTo>
                <a:quadBezTo>
                  <a:pt x="857250" y="219075"/>
                  <a:pt x="747713" y="219075"/>
                </a:quadBezTo>
                <a:lnTo>
                  <a:pt x="109537" y="219075"/>
                </a:lnTo>
                <a:quadBezTo>
                  <a:pt x="0" y="219075"/>
                  <a:pt x="0" y="109537"/>
                </a:quadBezTo>
                <a:lnTo>
                  <a:pt x="0" y="109537"/>
                </a:lnTo>
                <a:quadBezTo>
                  <a:pt x="0" y="0"/>
                  <a:pt x="109537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360" y="2066181"/>
            <a:ext cx="104775" cy="10477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981463" y="2066181"/>
            <a:ext cx="533400" cy="104775"/>
          </a:xfrm>
          <a:custGeom>
            <a:avLst/>
            <a:gdLst/>
            <a:ahLst/>
            <a:cxnLst/>
            <a:rect l="l" t="t" r="r" b="b"/>
            <a:pathLst>
              <a:path w="533400" h="104775">
                <a:moveTo>
                  <a:pt x="0" y="0"/>
                </a:moveTo>
                <a:lnTo>
                  <a:pt x="533400" y="0"/>
                </a:lnTo>
                <a:lnTo>
                  <a:pt x="533400" y="104775"/>
                </a:lnTo>
                <a:lnTo>
                  <a:pt x="0" y="1047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4981463" y="2066181"/>
            <a:ext cx="5334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9565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</a:t>
            </a:r>
            <a:endParaRPr lang="en-US" sz="9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542925" y="2365734"/>
          <a:ext cx="5057775" cy="2328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Shape 17"/>
          <p:cNvSpPr/>
          <p:nvPr/>
        </p:nvSpPr>
        <p:spPr>
          <a:xfrm>
            <a:off x="5991001" y="1794718"/>
            <a:ext cx="2771775" cy="728663"/>
          </a:xfrm>
          <a:custGeom>
            <a:avLst/>
            <a:gdLst/>
            <a:ahLst/>
            <a:cxnLst/>
            <a:rect l="l" t="t" r="r" b="b"/>
            <a:pathLst>
              <a:path w="2771775" h="728663">
                <a:moveTo>
                  <a:pt x="143437" y="0"/>
                </a:moveTo>
                <a:lnTo>
                  <a:pt x="2628338" y="0"/>
                </a:lnTo>
                <a:quadBezTo>
                  <a:pt x="2771775" y="0"/>
                  <a:pt x="2771775" y="143437"/>
                </a:quadBezTo>
                <a:lnTo>
                  <a:pt x="2771775" y="585225"/>
                </a:lnTo>
                <a:quadBezTo>
                  <a:pt x="2771775" y="728663"/>
                  <a:pt x="2628338" y="728663"/>
                </a:quadBezTo>
                <a:lnTo>
                  <a:pt x="143437" y="728663"/>
                </a:lnTo>
                <a:quadBezTo>
                  <a:pt x="0" y="728663"/>
                  <a:pt x="0" y="585225"/>
                </a:quadBezTo>
                <a:lnTo>
                  <a:pt x="0" y="143437"/>
                </a:lnTo>
                <a:quadBezTo>
                  <a:pt x="0" y="0"/>
                  <a:pt x="143437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66675" dir="2700000" algn="bl" rotWithShape="0">
              <a:srgbClr val="0B2E59">
                <a:alpha val="7059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24166" y="1928552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72737" y="0"/>
                </a:moveTo>
                <a:lnTo>
                  <a:pt x="136813" y="0"/>
                </a:lnTo>
                <a:quadBezTo>
                  <a:pt x="209550" y="0"/>
                  <a:pt x="209550" y="72737"/>
                </a:quadBezTo>
                <a:lnTo>
                  <a:pt x="209550" y="136813"/>
                </a:lnTo>
                <a:quadBezTo>
                  <a:pt x="209550" y="209550"/>
                  <a:pt x="136813" y="209550"/>
                </a:quadBezTo>
                <a:lnTo>
                  <a:pt x="72737" y="209550"/>
                </a:lnTo>
                <a:quadBezTo>
                  <a:pt x="0" y="209550"/>
                  <a:pt x="0" y="136813"/>
                </a:quadBezTo>
                <a:lnTo>
                  <a:pt x="0" y="72737"/>
                </a:lnTo>
                <a:quadBezTo>
                  <a:pt x="0" y="0"/>
                  <a:pt x="72737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554" y="1980940"/>
            <a:ext cx="104775" cy="104775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400576" y="1928068"/>
            <a:ext cx="2228850" cy="147637"/>
          </a:xfrm>
          <a:custGeom>
            <a:avLst/>
            <a:gdLst/>
            <a:ahLst/>
            <a:cxnLst/>
            <a:rect l="l" t="t" r="r" b="b"/>
            <a:pathLst>
              <a:path w="2228850" h="147637">
                <a:moveTo>
                  <a:pt x="0" y="0"/>
                </a:moveTo>
                <a:lnTo>
                  <a:pt x="2228850" y="0"/>
                </a:lnTo>
                <a:lnTo>
                  <a:pt x="2228850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6400576" y="1928068"/>
            <a:ext cx="22288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870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power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400576" y="2103797"/>
            <a:ext cx="2228850" cy="285750"/>
          </a:xfrm>
          <a:custGeom>
            <a:avLst/>
            <a:gdLst/>
            <a:ahLst/>
            <a:cxnLst/>
            <a:rect l="l" t="t" r="r" b="b"/>
            <a:pathLst>
              <a:path w="2228850" h="285750">
                <a:moveTo>
                  <a:pt x="0" y="0"/>
                </a:moveTo>
                <a:lnTo>
                  <a:pt x="2228850" y="0"/>
                </a:lnTo>
                <a:lnTo>
                  <a:pt x="22288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6400576" y="2103797"/>
            <a:ext cx="2228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Streaming status for the main feed and connected loads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5991001" y="2617663"/>
            <a:ext cx="2771775" cy="728663"/>
          </a:xfrm>
          <a:custGeom>
            <a:avLst/>
            <a:gdLst/>
            <a:ahLst/>
            <a:cxnLst/>
            <a:rect l="l" t="t" r="r" b="b"/>
            <a:pathLst>
              <a:path w="2771775" h="728663">
                <a:moveTo>
                  <a:pt x="143437" y="0"/>
                </a:moveTo>
                <a:lnTo>
                  <a:pt x="2628338" y="0"/>
                </a:lnTo>
                <a:quadBezTo>
                  <a:pt x="2771775" y="0"/>
                  <a:pt x="2771775" y="143437"/>
                </a:quadBezTo>
                <a:lnTo>
                  <a:pt x="2771775" y="585225"/>
                </a:lnTo>
                <a:quadBezTo>
                  <a:pt x="2771775" y="728663"/>
                  <a:pt x="2628338" y="728663"/>
                </a:quadBezTo>
                <a:lnTo>
                  <a:pt x="143437" y="728663"/>
                </a:lnTo>
                <a:quadBezTo>
                  <a:pt x="0" y="728663"/>
                  <a:pt x="0" y="585225"/>
                </a:quadBezTo>
                <a:lnTo>
                  <a:pt x="0" y="143437"/>
                </a:lnTo>
                <a:quadBezTo>
                  <a:pt x="0" y="0"/>
                  <a:pt x="143437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90500" dist="66675" dir="2700000" algn="bl" rotWithShape="0">
              <a:srgbClr val="0B2E59">
                <a:alpha val="7059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124166" y="2751497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72737" y="0"/>
                </a:moveTo>
                <a:lnTo>
                  <a:pt x="136813" y="0"/>
                </a:lnTo>
                <a:quadBezTo>
                  <a:pt x="209550" y="0"/>
                  <a:pt x="209550" y="72737"/>
                </a:quadBezTo>
                <a:lnTo>
                  <a:pt x="209550" y="136813"/>
                </a:lnTo>
                <a:quadBezTo>
                  <a:pt x="209550" y="209550"/>
                  <a:pt x="136813" y="209550"/>
                </a:quadBezTo>
                <a:lnTo>
                  <a:pt x="72737" y="209550"/>
                </a:lnTo>
                <a:quadBezTo>
                  <a:pt x="0" y="209550"/>
                  <a:pt x="0" y="136813"/>
                </a:quadBezTo>
                <a:lnTo>
                  <a:pt x="0" y="72737"/>
                </a:lnTo>
                <a:quadBezTo>
                  <a:pt x="0" y="0"/>
                  <a:pt x="72737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6554" y="2803884"/>
            <a:ext cx="104775" cy="104775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6400576" y="2751013"/>
            <a:ext cx="2228850" cy="147637"/>
          </a:xfrm>
          <a:custGeom>
            <a:avLst/>
            <a:gdLst/>
            <a:ahLst/>
            <a:cxnLst/>
            <a:rect l="l" t="t" r="r" b="b"/>
            <a:pathLst>
              <a:path w="2228850" h="147637">
                <a:moveTo>
                  <a:pt x="0" y="0"/>
                </a:moveTo>
                <a:lnTo>
                  <a:pt x="2228850" y="0"/>
                </a:lnTo>
                <a:lnTo>
                  <a:pt x="2228850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6400576" y="2751013"/>
            <a:ext cx="222885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870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current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6400576" y="2926742"/>
            <a:ext cx="2228850" cy="285750"/>
          </a:xfrm>
          <a:custGeom>
            <a:avLst/>
            <a:gdLst/>
            <a:ahLst/>
            <a:cxnLst/>
            <a:rect l="l" t="t" r="r" b="b"/>
            <a:pathLst>
              <a:path w="2228850" h="285750">
                <a:moveTo>
                  <a:pt x="0" y="0"/>
                </a:moveTo>
                <a:lnTo>
                  <a:pt x="2228850" y="0"/>
                </a:lnTo>
                <a:lnTo>
                  <a:pt x="2228850" y="28575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6400576" y="2926742"/>
            <a:ext cx="2228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draw compared against normal operating patterns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5991001" y="3442190"/>
            <a:ext cx="2771775" cy="1395412"/>
          </a:xfrm>
          <a:custGeom>
            <a:avLst/>
            <a:gdLst/>
            <a:ahLst/>
            <a:cxnLst/>
            <a:rect l="l" t="t" r="r" b="b"/>
            <a:pathLst>
              <a:path w="2771775" h="1395412">
                <a:moveTo>
                  <a:pt x="74906" y="0"/>
                </a:moveTo>
                <a:lnTo>
                  <a:pt x="2696869" y="0"/>
                </a:lnTo>
                <a:quadBezTo>
                  <a:pt x="2771775" y="0"/>
                  <a:pt x="2771775" y="74906"/>
                </a:quadBezTo>
                <a:lnTo>
                  <a:pt x="2771775" y="1320507"/>
                </a:lnTo>
                <a:quadBezTo>
                  <a:pt x="2771775" y="1395412"/>
                  <a:pt x="2696869" y="1395412"/>
                </a:quadBezTo>
                <a:lnTo>
                  <a:pt x="74906" y="1395412"/>
                </a:lnTo>
                <a:quadBezTo>
                  <a:pt x="0" y="1395412"/>
                  <a:pt x="0" y="1320507"/>
                </a:quadBezTo>
                <a:lnTo>
                  <a:pt x="0" y="74906"/>
                </a:lnTo>
                <a:quadBezTo>
                  <a:pt x="0" y="0"/>
                  <a:pt x="74906" y="0"/>
                </a:quadBezTo>
                <a:close/>
              </a:path>
            </a:pathLst>
          </a:custGeom>
          <a:solidFill>
            <a:srgbClr val="FFF7ED"/>
          </a:solidFill>
          <a:ln w="4786">
            <a:solidFill>
              <a:srgbClr val="F4A261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8929" y="3595390"/>
            <a:ext cx="114300" cy="114300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6300453" y="3578722"/>
            <a:ext cx="771525" cy="147637"/>
          </a:xfrm>
          <a:custGeom>
            <a:avLst/>
            <a:gdLst/>
            <a:ahLst/>
            <a:cxnLst/>
            <a:rect l="l" t="t" r="r" b="b"/>
            <a:pathLst>
              <a:path w="771525" h="147637">
                <a:moveTo>
                  <a:pt x="0" y="0"/>
                </a:moveTo>
                <a:lnTo>
                  <a:pt x="771525" y="0"/>
                </a:lnTo>
                <a:lnTo>
                  <a:pt x="771525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6300453" y="3578722"/>
            <a:ext cx="771525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870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9A34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 panel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6129114" y="3793219"/>
            <a:ext cx="2495550" cy="500063"/>
          </a:xfrm>
          <a:custGeom>
            <a:avLst/>
            <a:gdLst/>
            <a:ahLst/>
            <a:cxnLst/>
            <a:rect l="l" t="t" r="r" b="b"/>
            <a:pathLst>
              <a:path w="2495550" h="500063">
                <a:moveTo>
                  <a:pt x="0" y="0"/>
                </a:moveTo>
                <a:lnTo>
                  <a:pt x="2495550" y="0"/>
                </a:lnTo>
                <a:lnTo>
                  <a:pt x="2495550" y="500063"/>
                </a:lnTo>
                <a:lnTo>
                  <a:pt x="0" y="5000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6129114" y="3793219"/>
            <a:ext cx="2495550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7C2D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Flag abnormal load early, isolate the source, and keep the dashboard operator focused on exceptions.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6129114" y="4442464"/>
            <a:ext cx="2495550" cy="257175"/>
          </a:xfrm>
          <a:custGeom>
            <a:avLst/>
            <a:gdLst/>
            <a:ahLst/>
            <a:cxnLst/>
            <a:rect l="l" t="t" r="r" b="b"/>
            <a:pathLst>
              <a:path w="2495550" h="257175">
                <a:moveTo>
                  <a:pt x="76201" y="0"/>
                </a:moveTo>
                <a:lnTo>
                  <a:pt x="2419349" y="0"/>
                </a:lnTo>
                <a:quadBezTo>
                  <a:pt x="2495550" y="0"/>
                  <a:pt x="2495550" y="76201"/>
                </a:quadBezTo>
                <a:lnTo>
                  <a:pt x="2495550" y="180974"/>
                </a:lnTo>
                <a:quadBezTo>
                  <a:pt x="2495550" y="257175"/>
                  <a:pt x="2419349" y="257175"/>
                </a:quadBezTo>
                <a:lnTo>
                  <a:pt x="76201" y="257175"/>
                </a:lnTo>
                <a:quadBezTo>
                  <a:pt x="0" y="257175"/>
                  <a:pt x="0" y="180974"/>
                </a:quadBezTo>
                <a:lnTo>
                  <a:pt x="0" y="76201"/>
                </a:lnTo>
                <a:quadBezTo>
                  <a:pt x="0" y="0"/>
                  <a:pt x="76201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Shape 35"/>
          <p:cNvSpPr/>
          <p:nvPr/>
        </p:nvSpPr>
        <p:spPr>
          <a:xfrm>
            <a:off x="6205129" y="4547220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0" y="23812"/>
                </a:moveTo>
                <a:cubicBezTo>
                  <a:pt x="0" y="36964"/>
                  <a:pt x="10661" y="47625"/>
                  <a:pt x="23813" y="47625"/>
                </a:cubicBezTo>
                <a:cubicBezTo>
                  <a:pt x="36964" y="47625"/>
                  <a:pt x="47625" y="36964"/>
                  <a:pt x="47625" y="23812"/>
                </a:cubicBezTo>
                <a:cubicBezTo>
                  <a:pt x="47625" y="10661"/>
                  <a:pt x="36964" y="0"/>
                  <a:pt x="23813" y="0"/>
                </a:cubicBezTo>
                <a:cubicBezTo>
                  <a:pt x="10661" y="0"/>
                  <a:pt x="0" y="10661"/>
                  <a:pt x="0" y="23812"/>
                </a:cubicBez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44" name="Shape 36"/>
          <p:cNvSpPr/>
          <p:nvPr/>
        </p:nvSpPr>
        <p:spPr>
          <a:xfrm>
            <a:off x="6300583" y="4509139"/>
            <a:ext cx="1990725" cy="123825"/>
          </a:xfrm>
          <a:custGeom>
            <a:avLst/>
            <a:gdLst/>
            <a:ahLst/>
            <a:cxnLst/>
            <a:rect l="l" t="t" r="r" b="b"/>
            <a:pathLst>
              <a:path w="1990725" h="123825">
                <a:moveTo>
                  <a:pt x="0" y="0"/>
                </a:moveTo>
                <a:lnTo>
                  <a:pt x="1990725" y="0"/>
                </a:lnTo>
                <a:lnTo>
                  <a:pt x="1990725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5" name="Text 37"/>
          <p:cNvSpPr/>
          <p:nvPr/>
        </p:nvSpPr>
        <p:spPr>
          <a:xfrm>
            <a:off x="6300583" y="4509139"/>
            <a:ext cx="1990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9A34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Orange reserved for exceptions only</a:t>
            </a:r>
            <a:endParaRPr lang="en-US" sz="9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3B72D52-D308-07A5-3D9B-3C6E3508151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11D436-8622-CF11-5431-CF9205C80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88" y="821859"/>
            <a:ext cx="3899492" cy="41828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F714D7-2071-4646-3394-571B282F7946}"/>
              </a:ext>
            </a:extLst>
          </p:cNvPr>
          <p:cNvSpPr txBox="1"/>
          <p:nvPr/>
        </p:nvSpPr>
        <p:spPr>
          <a:xfrm>
            <a:off x="326572" y="175894"/>
            <a:ext cx="4572000" cy="4287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91304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Source Code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D9D9A0-2309-6476-88C4-F39F79A2A1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C5B154-01AA-FB1E-DBD3-466FF15A3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239" y="821859"/>
            <a:ext cx="4050175" cy="417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36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00050" y="353374"/>
            <a:ext cx="5619750" cy="123825"/>
          </a:xfrm>
          <a:custGeom>
            <a:avLst/>
            <a:gdLst/>
            <a:ahLst/>
            <a:cxnLst/>
            <a:rect l="l" t="t" r="r" b="b"/>
            <a:pathLst>
              <a:path w="5619750" h="123825">
                <a:moveTo>
                  <a:pt x="0" y="0"/>
                </a:moveTo>
                <a:lnTo>
                  <a:pt x="5619750" y="0"/>
                </a:lnTo>
                <a:lnTo>
                  <a:pt x="561975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00050" y="353374"/>
            <a:ext cx="56197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WORKFLOW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00050" y="544153"/>
            <a:ext cx="5334000" cy="661987"/>
          </a:xfrm>
          <a:custGeom>
            <a:avLst/>
            <a:gdLst/>
            <a:ahLst/>
            <a:cxnLst/>
            <a:rect l="l" t="t" r="r" b="b"/>
            <a:pathLst>
              <a:path w="5334000" h="661987">
                <a:moveTo>
                  <a:pt x="0" y="0"/>
                </a:moveTo>
                <a:lnTo>
                  <a:pt x="5334000" y="0"/>
                </a:lnTo>
                <a:lnTo>
                  <a:pt x="5334000" y="661987"/>
                </a:lnTo>
                <a:lnTo>
                  <a:pt x="0" y="66198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00050" y="544153"/>
            <a:ext cx="5334000" cy="661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435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bench assembly to validated cloud publishing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00050" y="1272146"/>
            <a:ext cx="4667250" cy="385763"/>
          </a:xfrm>
          <a:custGeom>
            <a:avLst/>
            <a:gdLst/>
            <a:ahLst/>
            <a:cxnLst/>
            <a:rect l="l" t="t" r="r" b="b"/>
            <a:pathLst>
              <a:path w="4667250" h="385763">
                <a:moveTo>
                  <a:pt x="0" y="0"/>
                </a:moveTo>
                <a:lnTo>
                  <a:pt x="4667250" y="0"/>
                </a:lnTo>
                <a:lnTo>
                  <a:pt x="46672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00050" y="1272146"/>
            <a:ext cx="46672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sequenced build path for the IoT home automation hub, moving from hardware bring-up to final calibration.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00254" y="1953853"/>
            <a:ext cx="5048250" cy="852488"/>
          </a:xfrm>
          <a:custGeom>
            <a:avLst/>
            <a:gdLst/>
            <a:ahLst/>
            <a:cxnLst/>
            <a:rect l="l" t="t" r="r" b="b"/>
            <a:pathLst>
              <a:path w="5048250" h="852488">
                <a:moveTo>
                  <a:pt x="143030" y="0"/>
                </a:moveTo>
                <a:lnTo>
                  <a:pt x="4905220" y="0"/>
                </a:lnTo>
                <a:quadBezTo>
                  <a:pt x="5048250" y="0"/>
                  <a:pt x="5048250" y="143030"/>
                </a:quadBezTo>
                <a:lnTo>
                  <a:pt x="5048250" y="709457"/>
                </a:lnTo>
                <a:quadBezTo>
                  <a:pt x="5048250" y="852488"/>
                  <a:pt x="4905220" y="852488"/>
                </a:quadBezTo>
                <a:lnTo>
                  <a:pt x="143030" y="852488"/>
                </a:lnTo>
                <a:quadBezTo>
                  <a:pt x="0" y="852488"/>
                  <a:pt x="0" y="709457"/>
                </a:quadBezTo>
                <a:lnTo>
                  <a:pt x="0" y="143030"/>
                </a:lnTo>
                <a:quadBezTo>
                  <a:pt x="0" y="0"/>
                  <a:pt x="14303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47625" dir="2700000" algn="bl" rotWithShape="0">
              <a:srgbClr val="0B2E59">
                <a:alpha val="5882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2450" y="209605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14" name="Text 11"/>
          <p:cNvSpPr/>
          <p:nvPr/>
        </p:nvSpPr>
        <p:spPr>
          <a:xfrm>
            <a:off x="552450" y="2096058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962229" y="2096281"/>
            <a:ext cx="4333875" cy="185738"/>
          </a:xfrm>
          <a:custGeom>
            <a:avLst/>
            <a:gdLst/>
            <a:ahLst/>
            <a:cxnLst/>
            <a:rect l="l" t="t" r="r" b="b"/>
            <a:pathLst>
              <a:path w="4333875" h="185738">
                <a:moveTo>
                  <a:pt x="0" y="0"/>
                </a:moveTo>
                <a:lnTo>
                  <a:pt x="4333875" y="0"/>
                </a:lnTo>
                <a:lnTo>
                  <a:pt x="4333875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962229" y="2096281"/>
            <a:ext cx="43338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 assembly and wiring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962229" y="2330314"/>
            <a:ext cx="4333875" cy="333375"/>
          </a:xfrm>
          <a:custGeom>
            <a:avLst/>
            <a:gdLst/>
            <a:ahLst/>
            <a:cxnLst/>
            <a:rect l="l" t="t" r="r" b="b"/>
            <a:pathLst>
              <a:path w="4333875" h="333375">
                <a:moveTo>
                  <a:pt x="0" y="0"/>
                </a:moveTo>
                <a:lnTo>
                  <a:pt x="4333875" y="0"/>
                </a:lnTo>
                <a:lnTo>
                  <a:pt x="4333875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962229" y="2330314"/>
            <a:ext cx="43338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Mount modules, route power, and secure sensor-to-controller connections.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00254" y="2921980"/>
            <a:ext cx="5048250" cy="852488"/>
          </a:xfrm>
          <a:custGeom>
            <a:avLst/>
            <a:gdLst/>
            <a:ahLst/>
            <a:cxnLst/>
            <a:rect l="l" t="t" r="r" b="b"/>
            <a:pathLst>
              <a:path w="5048250" h="852488">
                <a:moveTo>
                  <a:pt x="143030" y="0"/>
                </a:moveTo>
                <a:lnTo>
                  <a:pt x="4905220" y="0"/>
                </a:lnTo>
                <a:quadBezTo>
                  <a:pt x="5048250" y="0"/>
                  <a:pt x="5048250" y="143030"/>
                </a:quadBezTo>
                <a:lnTo>
                  <a:pt x="5048250" y="709457"/>
                </a:lnTo>
                <a:quadBezTo>
                  <a:pt x="5048250" y="852488"/>
                  <a:pt x="4905220" y="852488"/>
                </a:quadBezTo>
                <a:lnTo>
                  <a:pt x="143030" y="852488"/>
                </a:lnTo>
                <a:quadBezTo>
                  <a:pt x="0" y="852488"/>
                  <a:pt x="0" y="709457"/>
                </a:quadBezTo>
                <a:lnTo>
                  <a:pt x="0" y="143030"/>
                </a:lnTo>
                <a:quadBezTo>
                  <a:pt x="0" y="0"/>
                  <a:pt x="14303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47625" dir="2700000" algn="bl" rotWithShape="0">
              <a:srgbClr val="0B2E59">
                <a:alpha val="5882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2450" y="306418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21" name="Text 18"/>
          <p:cNvSpPr/>
          <p:nvPr/>
        </p:nvSpPr>
        <p:spPr>
          <a:xfrm>
            <a:off x="552450" y="3064185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62229" y="3064408"/>
            <a:ext cx="4333875" cy="185738"/>
          </a:xfrm>
          <a:custGeom>
            <a:avLst/>
            <a:gdLst/>
            <a:ahLst/>
            <a:cxnLst/>
            <a:rect l="l" t="t" r="r" b="b"/>
            <a:pathLst>
              <a:path w="4333875" h="185738">
                <a:moveTo>
                  <a:pt x="0" y="0"/>
                </a:moveTo>
                <a:lnTo>
                  <a:pt x="4333875" y="0"/>
                </a:lnTo>
                <a:lnTo>
                  <a:pt x="4333875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962229" y="3064408"/>
            <a:ext cx="43338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Firmware development and integration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62229" y="3298441"/>
            <a:ext cx="4333875" cy="333375"/>
          </a:xfrm>
          <a:custGeom>
            <a:avLst/>
            <a:gdLst/>
            <a:ahLst/>
            <a:cxnLst/>
            <a:rect l="l" t="t" r="r" b="b"/>
            <a:pathLst>
              <a:path w="4333875" h="333375">
                <a:moveTo>
                  <a:pt x="0" y="0"/>
                </a:moveTo>
                <a:lnTo>
                  <a:pt x="4333875" y="0"/>
                </a:lnTo>
                <a:lnTo>
                  <a:pt x="4333875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962229" y="3298441"/>
            <a:ext cx="43338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 device logic, then align firmware behavior with the assembled hardware.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00254" y="3890107"/>
            <a:ext cx="5048250" cy="852488"/>
          </a:xfrm>
          <a:custGeom>
            <a:avLst/>
            <a:gdLst/>
            <a:ahLst/>
            <a:cxnLst/>
            <a:rect l="l" t="t" r="r" b="b"/>
            <a:pathLst>
              <a:path w="5048250" h="852488">
                <a:moveTo>
                  <a:pt x="143030" y="0"/>
                </a:moveTo>
                <a:lnTo>
                  <a:pt x="4905220" y="0"/>
                </a:lnTo>
                <a:quadBezTo>
                  <a:pt x="5048250" y="0"/>
                  <a:pt x="5048250" y="143030"/>
                </a:quadBezTo>
                <a:lnTo>
                  <a:pt x="5048250" y="709457"/>
                </a:lnTo>
                <a:quadBezTo>
                  <a:pt x="5048250" y="852488"/>
                  <a:pt x="4905220" y="852488"/>
                </a:quadBezTo>
                <a:lnTo>
                  <a:pt x="143030" y="852488"/>
                </a:lnTo>
                <a:quadBezTo>
                  <a:pt x="0" y="852488"/>
                  <a:pt x="0" y="709457"/>
                </a:quadBezTo>
                <a:lnTo>
                  <a:pt x="0" y="143030"/>
                </a:lnTo>
                <a:quadBezTo>
                  <a:pt x="0" y="0"/>
                  <a:pt x="14303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47625" dir="2700000" algn="bl" rotWithShape="0">
              <a:srgbClr val="0B2E59">
                <a:alpha val="5882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52450" y="403231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4295" y="0"/>
                </a:moveTo>
                <a:lnTo>
                  <a:pt x="240505" y="0"/>
                </a:lnTo>
                <a:quadBezTo>
                  <a:pt x="304800" y="0"/>
                  <a:pt x="304800" y="64295"/>
                </a:quadBezTo>
                <a:lnTo>
                  <a:pt x="304800" y="240505"/>
                </a:lnTo>
                <a:quadBezTo>
                  <a:pt x="304800" y="304800"/>
                  <a:pt x="240505" y="304800"/>
                </a:quadBezTo>
                <a:lnTo>
                  <a:pt x="64295" y="304800"/>
                </a:lnTo>
                <a:quadBezTo>
                  <a:pt x="0" y="304800"/>
                  <a:pt x="0" y="240505"/>
                </a:quadBezTo>
                <a:lnTo>
                  <a:pt x="0" y="64295"/>
                </a:lnTo>
                <a:quadBezTo>
                  <a:pt x="0" y="0"/>
                  <a:pt x="64295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28" name="Text 25"/>
          <p:cNvSpPr/>
          <p:nvPr/>
        </p:nvSpPr>
        <p:spPr>
          <a:xfrm>
            <a:off x="552450" y="4032312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62229" y="4032534"/>
            <a:ext cx="4333875" cy="185738"/>
          </a:xfrm>
          <a:custGeom>
            <a:avLst/>
            <a:gdLst/>
            <a:ahLst/>
            <a:cxnLst/>
            <a:rect l="l" t="t" r="r" b="b"/>
            <a:pathLst>
              <a:path w="4333875" h="185738">
                <a:moveTo>
                  <a:pt x="0" y="0"/>
                </a:moveTo>
                <a:lnTo>
                  <a:pt x="4333875" y="0"/>
                </a:lnTo>
                <a:lnTo>
                  <a:pt x="4333875" y="185738"/>
                </a:lnTo>
                <a:lnTo>
                  <a:pt x="0" y="1857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962229" y="4032534"/>
            <a:ext cx="433387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87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setup and data publishing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962229" y="4266568"/>
            <a:ext cx="4333875" cy="333375"/>
          </a:xfrm>
          <a:custGeom>
            <a:avLst/>
            <a:gdLst/>
            <a:ahLst/>
            <a:cxnLst/>
            <a:rect l="l" t="t" r="r" b="b"/>
            <a:pathLst>
              <a:path w="4333875" h="333375">
                <a:moveTo>
                  <a:pt x="0" y="0"/>
                </a:moveTo>
                <a:lnTo>
                  <a:pt x="4333875" y="0"/>
                </a:lnTo>
                <a:lnTo>
                  <a:pt x="4333875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962229" y="4266568"/>
            <a:ext cx="433387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Configure the backend, connect the stream, and publish live telemetry.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677085" y="1951993"/>
            <a:ext cx="3067050" cy="2024062"/>
          </a:xfrm>
          <a:custGeom>
            <a:avLst/>
            <a:gdLst/>
            <a:ahLst/>
            <a:cxnLst/>
            <a:rect l="l" t="t" r="r" b="b"/>
            <a:pathLst>
              <a:path w="3067050" h="2024062">
                <a:moveTo>
                  <a:pt x="64547" y="0"/>
                </a:moveTo>
                <a:lnTo>
                  <a:pt x="3002503" y="0"/>
                </a:lnTo>
                <a:quadBezTo>
                  <a:pt x="3067050" y="0"/>
                  <a:pt x="3067050" y="64547"/>
                </a:quadBezTo>
                <a:lnTo>
                  <a:pt x="3067050" y="1959515"/>
                </a:lnTo>
                <a:quadBezTo>
                  <a:pt x="3067050" y="2024062"/>
                  <a:pt x="3002503" y="2024062"/>
                </a:quadBezTo>
                <a:lnTo>
                  <a:pt x="64547" y="2024062"/>
                </a:lnTo>
                <a:quadBezTo>
                  <a:pt x="0" y="2024062"/>
                  <a:pt x="0" y="1959515"/>
                </a:quadBezTo>
                <a:lnTo>
                  <a:pt x="0" y="64547"/>
                </a:lnTo>
                <a:quadBezTo>
                  <a:pt x="0" y="0"/>
                  <a:pt x="64547" y="0"/>
                </a:quadBezTo>
                <a:close/>
              </a:path>
            </a:pathLst>
          </a:custGeom>
          <a:solidFill>
            <a:srgbClr val="0B2E59"/>
          </a:solidFill>
          <a:ln/>
          <a:effectLst>
            <a:outerShdw blurRad="190500" dist="76200" dir="2700000" algn="bl" rotWithShape="0">
              <a:srgbClr val="0B2E59">
                <a:alpha val="14118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839234" y="2139367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2BB673"/>
          </a:solidFill>
          <a:ln/>
        </p:spPr>
      </p:sp>
      <p:sp>
        <p:nvSpPr>
          <p:cNvPr id="35" name="Shape 32"/>
          <p:cNvSpPr/>
          <p:nvPr/>
        </p:nvSpPr>
        <p:spPr>
          <a:xfrm>
            <a:off x="5971915" y="2115574"/>
            <a:ext cx="1714500" cy="114300"/>
          </a:xfrm>
          <a:custGeom>
            <a:avLst/>
            <a:gdLst/>
            <a:ahLst/>
            <a:cxnLst/>
            <a:rect l="l" t="t" r="r" b="b"/>
            <a:pathLst>
              <a:path w="1714500" h="114300">
                <a:moveTo>
                  <a:pt x="0" y="0"/>
                </a:moveTo>
                <a:lnTo>
                  <a:pt x="1714500" y="0"/>
                </a:lnTo>
                <a:lnTo>
                  <a:pt x="171450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5971915" y="2115574"/>
            <a:ext cx="1714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261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VALIDATION CHECKPOINT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839234" y="2353177"/>
            <a:ext cx="1714500" cy="676275"/>
          </a:xfrm>
          <a:custGeom>
            <a:avLst/>
            <a:gdLst/>
            <a:ahLst/>
            <a:cxnLst/>
            <a:rect l="l" t="t" r="r" b="b"/>
            <a:pathLst>
              <a:path w="1714500" h="676275">
                <a:moveTo>
                  <a:pt x="0" y="0"/>
                </a:moveTo>
                <a:lnTo>
                  <a:pt x="1714500" y="0"/>
                </a:lnTo>
                <a:lnTo>
                  <a:pt x="1714500" y="676275"/>
                </a:lnTo>
                <a:lnTo>
                  <a:pt x="0" y="6762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5839234" y="2353177"/>
            <a:ext cx="17145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609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 testing and calibration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5839234" y="3113670"/>
            <a:ext cx="1857375" cy="719137"/>
          </a:xfrm>
          <a:custGeom>
            <a:avLst/>
            <a:gdLst/>
            <a:ahLst/>
            <a:cxnLst/>
            <a:rect l="l" t="t" r="r" b="b"/>
            <a:pathLst>
              <a:path w="1857375" h="719137">
                <a:moveTo>
                  <a:pt x="0" y="0"/>
                </a:moveTo>
                <a:lnTo>
                  <a:pt x="1857375" y="0"/>
                </a:lnTo>
                <a:lnTo>
                  <a:pt x="1857375" y="719137"/>
                </a:lnTo>
                <a:lnTo>
                  <a:pt x="0" y="719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5839234" y="3113670"/>
            <a:ext cx="1857375" cy="719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D6E3F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Close the loop by checking response, tuning thresholds, and confirming stable operation.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953721" y="3994677"/>
            <a:ext cx="1481137" cy="147637"/>
          </a:xfrm>
          <a:custGeom>
            <a:avLst/>
            <a:gdLst/>
            <a:ahLst/>
            <a:cxnLst/>
            <a:rect l="l" t="t" r="r" b="b"/>
            <a:pathLst>
              <a:path w="1481137" h="147637">
                <a:moveTo>
                  <a:pt x="0" y="0"/>
                </a:moveTo>
                <a:lnTo>
                  <a:pt x="1481137" y="0"/>
                </a:lnTo>
                <a:lnTo>
                  <a:pt x="1481137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677085" y="4090076"/>
            <a:ext cx="3067050" cy="709613"/>
          </a:xfrm>
          <a:custGeom>
            <a:avLst/>
            <a:gdLst/>
            <a:ahLst/>
            <a:cxnLst/>
            <a:rect l="l" t="t" r="r" b="b"/>
            <a:pathLst>
              <a:path w="3067050" h="709613">
                <a:moveTo>
                  <a:pt x="147287" y="0"/>
                </a:moveTo>
                <a:lnTo>
                  <a:pt x="2919763" y="0"/>
                </a:lnTo>
                <a:quadBezTo>
                  <a:pt x="3067050" y="0"/>
                  <a:pt x="3067050" y="147287"/>
                </a:quadBezTo>
                <a:lnTo>
                  <a:pt x="3067050" y="562325"/>
                </a:lnTo>
                <a:quadBezTo>
                  <a:pt x="3067050" y="709613"/>
                  <a:pt x="2919763" y="709613"/>
                </a:quadBezTo>
                <a:lnTo>
                  <a:pt x="147287" y="709613"/>
                </a:lnTo>
                <a:quadBezTo>
                  <a:pt x="0" y="709613"/>
                  <a:pt x="0" y="562325"/>
                </a:quadBezTo>
                <a:lnTo>
                  <a:pt x="0" y="147287"/>
                </a:lnTo>
                <a:quadBezTo>
                  <a:pt x="0" y="0"/>
                  <a:pt x="147287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45" name="Shape 42"/>
          <p:cNvSpPr/>
          <p:nvPr/>
        </p:nvSpPr>
        <p:spPr>
          <a:xfrm>
            <a:off x="5810435" y="4203929"/>
            <a:ext cx="2800350" cy="114300"/>
          </a:xfrm>
          <a:custGeom>
            <a:avLst/>
            <a:gdLst/>
            <a:ahLst/>
            <a:cxnLst/>
            <a:rect l="l" t="t" r="r" b="b"/>
            <a:pathLst>
              <a:path w="2800350" h="114300">
                <a:moveTo>
                  <a:pt x="0" y="0"/>
                </a:moveTo>
                <a:lnTo>
                  <a:pt x="2800350" y="0"/>
                </a:lnTo>
                <a:lnTo>
                  <a:pt x="2800350" y="114300"/>
                </a:lnTo>
                <a:lnTo>
                  <a:pt x="0" y="1143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5810435" y="4203929"/>
            <a:ext cx="28003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261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 INTENT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10435" y="4366765"/>
            <a:ext cx="2800350" cy="319088"/>
          </a:xfrm>
          <a:custGeom>
            <a:avLst/>
            <a:gdLst/>
            <a:ahLst/>
            <a:cxnLst/>
            <a:rect l="l" t="t" r="r" b="b"/>
            <a:pathLst>
              <a:path w="2800350" h="319088">
                <a:moveTo>
                  <a:pt x="0" y="0"/>
                </a:moveTo>
                <a:lnTo>
                  <a:pt x="2800350" y="0"/>
                </a:lnTo>
                <a:lnTo>
                  <a:pt x="2800350" y="319088"/>
                </a:lnTo>
                <a:lnTo>
                  <a:pt x="0" y="3190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5810435" y="4366765"/>
            <a:ext cx="280035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stage reduces uncertainty before the next one begins.</a:t>
            </a:r>
            <a:endParaRPr lang="en-US" sz="9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7F0ECEE-03A8-C21E-B4F5-36B95D835B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381000" y="305749"/>
            <a:ext cx="8382000" cy="123825"/>
          </a:xfrm>
          <a:custGeom>
            <a:avLst/>
            <a:gdLst/>
            <a:ahLst/>
            <a:cxnLst/>
            <a:rect l="l" t="t" r="r" b="b"/>
            <a:pathLst>
              <a:path w="8382000" h="123825">
                <a:moveTo>
                  <a:pt x="0" y="0"/>
                </a:moveTo>
                <a:lnTo>
                  <a:pt x="8382000" y="0"/>
                </a:lnTo>
                <a:lnTo>
                  <a:pt x="838200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305749"/>
            <a:ext cx="8382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EXPERIMENTAL SETUP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81000" y="497458"/>
            <a:ext cx="5715000" cy="633412"/>
          </a:xfrm>
          <a:custGeom>
            <a:avLst/>
            <a:gdLst/>
            <a:ahLst/>
            <a:cxnLst/>
            <a:rect l="l" t="t" r="r" b="b"/>
            <a:pathLst>
              <a:path w="5715000" h="633412">
                <a:moveTo>
                  <a:pt x="0" y="0"/>
                </a:moveTo>
                <a:lnTo>
                  <a:pt x="5715000" y="0"/>
                </a:lnTo>
                <a:lnTo>
                  <a:pt x="5715000" y="633412"/>
                </a:lnTo>
                <a:lnTo>
                  <a:pt x="0" y="6334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97458"/>
            <a:ext cx="5715000" cy="633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435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Residential-room prototype with controlled appliance trials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81000" y="1216856"/>
            <a:ext cx="5334000" cy="357188"/>
          </a:xfrm>
          <a:custGeom>
            <a:avLst/>
            <a:gdLst/>
            <a:ahLst/>
            <a:cxnLst/>
            <a:rect l="l" t="t" r="r" b="b"/>
            <a:pathLst>
              <a:path w="5334000" h="357188">
                <a:moveTo>
                  <a:pt x="0" y="0"/>
                </a:moveTo>
                <a:lnTo>
                  <a:pt x="5334000" y="0"/>
                </a:lnTo>
                <a:lnTo>
                  <a:pt x="5334000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81000" y="1216856"/>
            <a:ext cx="53340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repeatable test environment built to compare normal, idle, and peak-load behavior under the same room conditions.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840743"/>
            <a:ext cx="8382000" cy="17145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81000" y="2993509"/>
            <a:ext cx="8382000" cy="561975"/>
          </a:xfrm>
          <a:custGeom>
            <a:avLst/>
            <a:gdLst/>
            <a:ahLst/>
            <a:cxnLst/>
            <a:rect l="l" t="t" r="r" b="b"/>
            <a:pathLst>
              <a:path w="8382000" h="561975">
                <a:moveTo>
                  <a:pt x="0" y="0"/>
                </a:moveTo>
                <a:lnTo>
                  <a:pt x="8382000" y="0"/>
                </a:lnTo>
                <a:lnTo>
                  <a:pt x="8382000" y="561975"/>
                </a:lnTo>
                <a:lnTo>
                  <a:pt x="0" y="561975"/>
                </a:ln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14" name="Shape 10"/>
          <p:cNvSpPr/>
          <p:nvPr/>
        </p:nvSpPr>
        <p:spPr>
          <a:xfrm>
            <a:off x="542925" y="3128051"/>
            <a:ext cx="8058150" cy="123825"/>
          </a:xfrm>
          <a:custGeom>
            <a:avLst/>
            <a:gdLst/>
            <a:ahLst/>
            <a:cxnLst/>
            <a:rect l="l" t="t" r="r" b="b"/>
            <a:pathLst>
              <a:path w="8058150" h="123825">
                <a:moveTo>
                  <a:pt x="0" y="0"/>
                </a:moveTo>
                <a:lnTo>
                  <a:pt x="8058150" y="0"/>
                </a:lnTo>
                <a:lnTo>
                  <a:pt x="805815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542925" y="3128051"/>
            <a:ext cx="805815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Residential-room prototype environment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42925" y="3289734"/>
            <a:ext cx="8058150" cy="133350"/>
          </a:xfrm>
          <a:custGeom>
            <a:avLst/>
            <a:gdLst/>
            <a:ahLst/>
            <a:cxnLst/>
            <a:rect l="l" t="t" r="r" b="b"/>
            <a:pathLst>
              <a:path w="8058150" h="133350">
                <a:moveTo>
                  <a:pt x="0" y="0"/>
                </a:moveTo>
                <a:lnTo>
                  <a:pt x="8058150" y="0"/>
                </a:lnTo>
                <a:lnTo>
                  <a:pt x="805815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542925" y="3289734"/>
            <a:ext cx="80581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DCE7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controlled setting that mirrors household use while keeping conditions consistent across trials.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81000" y="3616287"/>
            <a:ext cx="4710112" cy="1392857"/>
          </a:xfrm>
          <a:custGeom>
            <a:avLst/>
            <a:gdLst/>
            <a:ahLst/>
            <a:cxnLst/>
            <a:rect l="l" t="t" r="r" b="b"/>
            <a:pathLst>
              <a:path w="4710112" h="1109662">
                <a:moveTo>
                  <a:pt x="109890" y="0"/>
                </a:moveTo>
                <a:lnTo>
                  <a:pt x="4600223" y="0"/>
                </a:lnTo>
                <a:quadBezTo>
                  <a:pt x="4710112" y="0"/>
                  <a:pt x="4710112" y="109890"/>
                </a:quadBezTo>
                <a:lnTo>
                  <a:pt x="4710112" y="999773"/>
                </a:lnTo>
                <a:quadBezTo>
                  <a:pt x="4710112" y="1109662"/>
                  <a:pt x="4600223" y="1109662"/>
                </a:quadBezTo>
                <a:lnTo>
                  <a:pt x="109890" y="1109662"/>
                </a:lnTo>
                <a:quadBezTo>
                  <a:pt x="0" y="1109662"/>
                  <a:pt x="0" y="999773"/>
                </a:quadBezTo>
                <a:lnTo>
                  <a:pt x="0" y="109890"/>
                </a:lnTo>
                <a:quadBezTo>
                  <a:pt x="0" y="0"/>
                  <a:pt x="10989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33350" dist="47625" dir="2700000" algn="bl" rotWithShape="0">
              <a:srgbClr val="102A43">
                <a:alpha val="5882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1025" y="3936709"/>
            <a:ext cx="4310062" cy="152400"/>
          </a:xfrm>
          <a:custGeom>
            <a:avLst/>
            <a:gdLst/>
            <a:ahLst/>
            <a:cxnLst/>
            <a:rect l="l" t="t" r="r" b="b"/>
            <a:pathLst>
              <a:path w="4310062" h="152400">
                <a:moveTo>
                  <a:pt x="0" y="0"/>
                </a:moveTo>
                <a:lnTo>
                  <a:pt x="4310062" y="0"/>
                </a:lnTo>
                <a:lnTo>
                  <a:pt x="4310062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581025" y="3638712"/>
            <a:ext cx="43100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 conditions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81025" y="3865734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22" name="Shape 18"/>
          <p:cNvSpPr/>
          <p:nvPr/>
        </p:nvSpPr>
        <p:spPr>
          <a:xfrm>
            <a:off x="733425" y="4213864"/>
            <a:ext cx="4157663" cy="147637"/>
          </a:xfrm>
          <a:custGeom>
            <a:avLst/>
            <a:gdLst/>
            <a:ahLst/>
            <a:cxnLst/>
            <a:rect l="l" t="t" r="r" b="b"/>
            <a:pathLst>
              <a:path w="4157663" h="147637">
                <a:moveTo>
                  <a:pt x="0" y="0"/>
                </a:moveTo>
                <a:lnTo>
                  <a:pt x="4157663" y="0"/>
                </a:lnTo>
                <a:lnTo>
                  <a:pt x="4157663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733425" y="3834222"/>
            <a:ext cx="4157663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Residential-room prototype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33425" y="4032192"/>
            <a:ext cx="4157663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experiment was run in a controlled room configured to reflect home-use conditions.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581025" y="4434478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2BB673"/>
          </a:solidFill>
          <a:ln/>
        </p:spPr>
      </p:sp>
      <p:sp>
        <p:nvSpPr>
          <p:cNvPr id="29" name="Shape 25"/>
          <p:cNvSpPr/>
          <p:nvPr/>
        </p:nvSpPr>
        <p:spPr>
          <a:xfrm>
            <a:off x="733425" y="5009145"/>
            <a:ext cx="4157663" cy="309562"/>
          </a:xfrm>
          <a:custGeom>
            <a:avLst/>
            <a:gdLst/>
            <a:ahLst/>
            <a:cxnLst/>
            <a:rect l="l" t="t" r="r" b="b"/>
            <a:pathLst>
              <a:path w="4157663" h="309562">
                <a:moveTo>
                  <a:pt x="0" y="0"/>
                </a:moveTo>
                <a:lnTo>
                  <a:pt x="4157663" y="0"/>
                </a:lnTo>
                <a:lnTo>
                  <a:pt x="4157663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729343" y="4605013"/>
            <a:ext cx="4157663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appliance was evaluated individually to isolate operating behavior and load response.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581025" y="5484912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32" name="Shape 28"/>
          <p:cNvSpPr/>
          <p:nvPr/>
        </p:nvSpPr>
        <p:spPr>
          <a:xfrm>
            <a:off x="733425" y="5432989"/>
            <a:ext cx="4157663" cy="147637"/>
          </a:xfrm>
          <a:custGeom>
            <a:avLst/>
            <a:gdLst/>
            <a:ahLst/>
            <a:cxnLst/>
            <a:rect l="l" t="t" r="r" b="b"/>
            <a:pathLst>
              <a:path w="4157663" h="147637">
                <a:moveTo>
                  <a:pt x="0" y="0"/>
                </a:moveTo>
                <a:lnTo>
                  <a:pt x="4157663" y="0"/>
                </a:lnTo>
                <a:lnTo>
                  <a:pt x="4157663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3" name="Text 29"/>
          <p:cNvSpPr/>
          <p:nvPr/>
        </p:nvSpPr>
        <p:spPr>
          <a:xfrm>
            <a:off x="733425" y="5432989"/>
            <a:ext cx="4157663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Normal, idle, and peak-load cases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733425" y="5618709"/>
            <a:ext cx="4157663" cy="309562"/>
          </a:xfrm>
          <a:custGeom>
            <a:avLst/>
            <a:gdLst/>
            <a:ahLst/>
            <a:cxnLst/>
            <a:rect l="l" t="t" r="r" b="b"/>
            <a:pathLst>
              <a:path w="4157663" h="309562">
                <a:moveTo>
                  <a:pt x="0" y="0"/>
                </a:moveTo>
                <a:lnTo>
                  <a:pt x="4157663" y="0"/>
                </a:lnTo>
                <a:lnTo>
                  <a:pt x="4157663" y="309562"/>
                </a:lnTo>
                <a:lnTo>
                  <a:pt x="0" y="30956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5" name="Text 31"/>
          <p:cNvSpPr/>
          <p:nvPr/>
        </p:nvSpPr>
        <p:spPr>
          <a:xfrm>
            <a:off x="733425" y="5618709"/>
            <a:ext cx="4157663" cy="30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same setup was repeated across operating states to compare behavior under light and heavy demand.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581025" y="6061583"/>
            <a:ext cx="4310062" cy="381000"/>
          </a:xfrm>
          <a:custGeom>
            <a:avLst/>
            <a:gdLst/>
            <a:ahLst/>
            <a:cxnLst/>
            <a:rect l="l" t="t" r="r" b="b"/>
            <a:pathLst>
              <a:path w="4310062" h="381000">
                <a:moveTo>
                  <a:pt x="0" y="0"/>
                </a:moveTo>
                <a:lnTo>
                  <a:pt x="4310062" y="0"/>
                </a:lnTo>
                <a:lnTo>
                  <a:pt x="4310062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6254466"/>
            <a:ext cx="104775" cy="104775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742950" y="6171121"/>
            <a:ext cx="4148137" cy="271463"/>
          </a:xfrm>
          <a:custGeom>
            <a:avLst/>
            <a:gdLst/>
            <a:ahLst/>
            <a:cxnLst/>
            <a:rect l="l" t="t" r="r" b="b"/>
            <a:pathLst>
              <a:path w="4148137" h="271463">
                <a:moveTo>
                  <a:pt x="0" y="0"/>
                </a:moveTo>
                <a:lnTo>
                  <a:pt x="4148137" y="0"/>
                </a:lnTo>
                <a:lnTo>
                  <a:pt x="4148137" y="271463"/>
                </a:lnTo>
                <a:lnTo>
                  <a:pt x="0" y="2714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9" name="Text 34"/>
          <p:cNvSpPr/>
          <p:nvPr/>
        </p:nvSpPr>
        <p:spPr>
          <a:xfrm>
            <a:off x="742950" y="6171121"/>
            <a:ext cx="4148137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522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Repeated trials were used to check consistency and reduce random variation.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5281612" y="3598347"/>
            <a:ext cx="3481388" cy="739880"/>
          </a:xfrm>
          <a:custGeom>
            <a:avLst/>
            <a:gdLst/>
            <a:ahLst/>
            <a:cxnLst/>
            <a:rect l="l" t="t" r="r" b="b"/>
            <a:pathLst>
              <a:path w="3481388" h="1109662">
                <a:moveTo>
                  <a:pt x="109890" y="0"/>
                </a:moveTo>
                <a:lnTo>
                  <a:pt x="3371498" y="0"/>
                </a:lnTo>
                <a:quadBezTo>
                  <a:pt x="3481388" y="0"/>
                  <a:pt x="3481388" y="109890"/>
                </a:quadBezTo>
                <a:lnTo>
                  <a:pt x="3481388" y="999773"/>
                </a:lnTo>
                <a:quadBezTo>
                  <a:pt x="3481388" y="1109662"/>
                  <a:pt x="3371498" y="1109662"/>
                </a:quadBezTo>
                <a:lnTo>
                  <a:pt x="109890" y="1109662"/>
                </a:lnTo>
                <a:quadBezTo>
                  <a:pt x="0" y="1109662"/>
                  <a:pt x="0" y="999773"/>
                </a:quadBezTo>
                <a:lnTo>
                  <a:pt x="0" y="109890"/>
                </a:lnTo>
                <a:quadBezTo>
                  <a:pt x="0" y="0"/>
                  <a:pt x="109890" y="0"/>
                </a:quadBez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41" name="Shape 36"/>
          <p:cNvSpPr/>
          <p:nvPr/>
        </p:nvSpPr>
        <p:spPr>
          <a:xfrm>
            <a:off x="5453062" y="3675935"/>
            <a:ext cx="3138488" cy="123825"/>
          </a:xfrm>
          <a:custGeom>
            <a:avLst/>
            <a:gdLst/>
            <a:ahLst/>
            <a:cxnLst/>
            <a:rect l="l" t="t" r="r" b="b"/>
            <a:pathLst>
              <a:path w="3138488" h="123825">
                <a:moveTo>
                  <a:pt x="0" y="0"/>
                </a:moveTo>
                <a:lnTo>
                  <a:pt x="3138488" y="0"/>
                </a:lnTo>
                <a:lnTo>
                  <a:pt x="3138488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2" name="Text 37"/>
          <p:cNvSpPr/>
          <p:nvPr/>
        </p:nvSpPr>
        <p:spPr>
          <a:xfrm>
            <a:off x="5453062" y="3639193"/>
            <a:ext cx="31384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9BD7D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5453062" y="4139096"/>
            <a:ext cx="3138488" cy="414338"/>
          </a:xfrm>
          <a:custGeom>
            <a:avLst/>
            <a:gdLst/>
            <a:ahLst/>
            <a:cxnLst/>
            <a:rect l="l" t="t" r="r" b="b"/>
            <a:pathLst>
              <a:path w="3138488" h="414338">
                <a:moveTo>
                  <a:pt x="0" y="0"/>
                </a:moveTo>
                <a:lnTo>
                  <a:pt x="3138488" y="0"/>
                </a:lnTo>
                <a:lnTo>
                  <a:pt x="3138488" y="414338"/>
                </a:lnTo>
                <a:lnTo>
                  <a:pt x="0" y="41433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4" name="Text 39"/>
          <p:cNvSpPr/>
          <p:nvPr/>
        </p:nvSpPr>
        <p:spPr>
          <a:xfrm>
            <a:off x="5453062" y="3800276"/>
            <a:ext cx="3138488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40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environment, repeated conditions, comparable results.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5371419" y="4412196"/>
            <a:ext cx="3138488" cy="623888"/>
          </a:xfrm>
          <a:custGeom>
            <a:avLst/>
            <a:gdLst/>
            <a:ahLst/>
            <a:cxnLst/>
            <a:rect l="l" t="t" r="r" b="b"/>
            <a:pathLst>
              <a:path w="3138488" h="623888">
                <a:moveTo>
                  <a:pt x="139601" y="0"/>
                </a:moveTo>
                <a:lnTo>
                  <a:pt x="2998886" y="0"/>
                </a:lnTo>
                <a:quadBezTo>
                  <a:pt x="3138488" y="0"/>
                  <a:pt x="3138488" y="139601"/>
                </a:quadBezTo>
                <a:lnTo>
                  <a:pt x="3138488" y="484286"/>
                </a:lnTo>
                <a:quadBezTo>
                  <a:pt x="3138488" y="623888"/>
                  <a:pt x="2998886" y="623888"/>
                </a:quadBezTo>
                <a:lnTo>
                  <a:pt x="139601" y="623888"/>
                </a:lnTo>
                <a:quadBezTo>
                  <a:pt x="0" y="623888"/>
                  <a:pt x="0" y="484286"/>
                </a:quadBezTo>
                <a:lnTo>
                  <a:pt x="0" y="139601"/>
                </a:lnTo>
                <a:quadBezTo>
                  <a:pt x="0" y="0"/>
                  <a:pt x="139601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6" name="Shape 41"/>
          <p:cNvSpPr/>
          <p:nvPr/>
        </p:nvSpPr>
        <p:spPr>
          <a:xfrm>
            <a:off x="5567362" y="4660088"/>
            <a:ext cx="2909888" cy="123825"/>
          </a:xfrm>
          <a:custGeom>
            <a:avLst/>
            <a:gdLst/>
            <a:ahLst/>
            <a:cxnLst/>
            <a:rect l="l" t="t" r="r" b="b"/>
            <a:pathLst>
              <a:path w="2909888" h="123825">
                <a:moveTo>
                  <a:pt x="0" y="0"/>
                </a:moveTo>
                <a:lnTo>
                  <a:pt x="2909888" y="0"/>
                </a:lnTo>
                <a:lnTo>
                  <a:pt x="2909888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7" name="Text 42"/>
          <p:cNvSpPr/>
          <p:nvPr/>
        </p:nvSpPr>
        <p:spPr>
          <a:xfrm>
            <a:off x="5567362" y="4484881"/>
            <a:ext cx="29098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Controlled room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5567362" y="4813436"/>
            <a:ext cx="2909888" cy="261937"/>
          </a:xfrm>
          <a:custGeom>
            <a:avLst/>
            <a:gdLst/>
            <a:ahLst/>
            <a:cxnLst/>
            <a:rect l="l" t="t" r="r" b="b"/>
            <a:pathLst>
              <a:path w="2909888" h="261937">
                <a:moveTo>
                  <a:pt x="0" y="0"/>
                </a:moveTo>
                <a:lnTo>
                  <a:pt x="2909888" y="0"/>
                </a:lnTo>
                <a:lnTo>
                  <a:pt x="2909888" y="261937"/>
                </a:lnTo>
                <a:lnTo>
                  <a:pt x="0" y="2619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9" name="Text 44"/>
          <p:cNvSpPr/>
          <p:nvPr/>
        </p:nvSpPr>
        <p:spPr>
          <a:xfrm>
            <a:off x="5567362" y="4687175"/>
            <a:ext cx="2909888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 environment closely matching a residential setting.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5453062" y="5265632"/>
            <a:ext cx="3138488" cy="495300"/>
          </a:xfrm>
          <a:custGeom>
            <a:avLst/>
            <a:gdLst/>
            <a:ahLst/>
            <a:cxnLst/>
            <a:rect l="l" t="t" r="r" b="b"/>
            <a:pathLst>
              <a:path w="3138488" h="495300">
                <a:moveTo>
                  <a:pt x="175846" y="0"/>
                </a:moveTo>
                <a:lnTo>
                  <a:pt x="2962641" y="0"/>
                </a:lnTo>
                <a:quadBezTo>
                  <a:pt x="3138488" y="0"/>
                  <a:pt x="3138488" y="175846"/>
                </a:quadBezTo>
                <a:lnTo>
                  <a:pt x="3138488" y="319454"/>
                </a:lnTo>
                <a:quadBezTo>
                  <a:pt x="3138488" y="495300"/>
                  <a:pt x="2962641" y="495300"/>
                </a:quadBezTo>
                <a:lnTo>
                  <a:pt x="175846" y="495300"/>
                </a:lnTo>
                <a:quadBezTo>
                  <a:pt x="0" y="495300"/>
                  <a:pt x="0" y="319454"/>
                </a:quadBezTo>
                <a:lnTo>
                  <a:pt x="0" y="175846"/>
                </a:lnTo>
                <a:quadBezTo>
                  <a:pt x="0" y="0"/>
                  <a:pt x="175846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51" name="Shape 46"/>
          <p:cNvSpPr/>
          <p:nvPr/>
        </p:nvSpPr>
        <p:spPr>
          <a:xfrm>
            <a:off x="5567362" y="5371598"/>
            <a:ext cx="2909888" cy="123825"/>
          </a:xfrm>
          <a:custGeom>
            <a:avLst/>
            <a:gdLst/>
            <a:ahLst/>
            <a:cxnLst/>
            <a:rect l="l" t="t" r="r" b="b"/>
            <a:pathLst>
              <a:path w="2909888" h="123825">
                <a:moveTo>
                  <a:pt x="0" y="0"/>
                </a:moveTo>
                <a:lnTo>
                  <a:pt x="2909888" y="0"/>
                </a:lnTo>
                <a:lnTo>
                  <a:pt x="2909888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2" name="Text 47"/>
          <p:cNvSpPr/>
          <p:nvPr/>
        </p:nvSpPr>
        <p:spPr>
          <a:xfrm>
            <a:off x="5567362" y="5371598"/>
            <a:ext cx="29098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Load states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5567362" y="5523756"/>
            <a:ext cx="2909888" cy="133350"/>
          </a:xfrm>
          <a:custGeom>
            <a:avLst/>
            <a:gdLst/>
            <a:ahLst/>
            <a:cxnLst/>
            <a:rect l="l" t="t" r="r" b="b"/>
            <a:pathLst>
              <a:path w="2909888" h="133350">
                <a:moveTo>
                  <a:pt x="0" y="0"/>
                </a:moveTo>
                <a:lnTo>
                  <a:pt x="2909888" y="0"/>
                </a:lnTo>
                <a:lnTo>
                  <a:pt x="2909888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4" name="Text 49"/>
          <p:cNvSpPr/>
          <p:nvPr/>
        </p:nvSpPr>
        <p:spPr>
          <a:xfrm>
            <a:off x="5567362" y="5523756"/>
            <a:ext cx="29098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174"/>
              </a:lnSpc>
              <a:spcBef>
                <a:spcPts val="281"/>
              </a:spcBef>
              <a:buNone/>
            </a:pPr>
            <a:r>
              <a:rPr lang="en-US" sz="799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Normal, idle, and peak-load cases for comparison.</a:t>
            </a:r>
            <a:endParaRPr lang="en-US" sz="900" dirty="0"/>
          </a:p>
        </p:txBody>
      </p:sp>
      <p:pic>
        <p:nvPicPr>
          <p:cNvPr id="5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6061583"/>
            <a:ext cx="4310062" cy="381000"/>
          </a:xfrm>
          <a:prstGeom prst="rect">
            <a:avLst/>
          </a:prstGeom>
        </p:spPr>
      </p:pic>
      <p:sp>
        <p:nvSpPr>
          <p:cNvPr id="56" name="Text 24">
            <a:extLst>
              <a:ext uri="{FF2B5EF4-FFF2-40B4-BE49-F238E27FC236}">
                <a16:creationId xmlns:a16="http://schemas.microsoft.com/office/drawing/2014/main" id="{06326626-733B-CA4D-C934-9C3DEF973F7B}"/>
              </a:ext>
            </a:extLst>
          </p:cNvPr>
          <p:cNvSpPr/>
          <p:nvPr/>
        </p:nvSpPr>
        <p:spPr>
          <a:xfrm>
            <a:off x="733424" y="4386299"/>
            <a:ext cx="4157663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Selected appliances under test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73DE990-987E-2401-5672-6BF2B597A1B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381000" y="342900"/>
            <a:ext cx="6096000" cy="171450"/>
          </a:xfrm>
          <a:custGeom>
            <a:avLst/>
            <a:gdLst/>
            <a:ahLst/>
            <a:cxnLst/>
            <a:rect l="l" t="t" r="r" b="b"/>
            <a:pathLst>
              <a:path w="6096000" h="171450">
                <a:moveTo>
                  <a:pt x="0" y="0"/>
                </a:moveTo>
                <a:lnTo>
                  <a:pt x="6096000" y="0"/>
                </a:lnTo>
                <a:lnTo>
                  <a:pt x="6096000" y="171450"/>
                </a:lnTo>
                <a:lnTo>
                  <a:pt x="0" y="1714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81000" y="342900"/>
            <a:ext cx="609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AND PERFORMANCE ANALYSIS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81000" y="581210"/>
            <a:ext cx="5810250" cy="990600"/>
          </a:xfrm>
          <a:custGeom>
            <a:avLst/>
            <a:gdLst/>
            <a:ahLst/>
            <a:cxnLst/>
            <a:rect l="l" t="t" r="r" b="b"/>
            <a:pathLst>
              <a:path w="5810250" h="990600">
                <a:moveTo>
                  <a:pt x="0" y="0"/>
                </a:moveTo>
                <a:lnTo>
                  <a:pt x="5810250" y="0"/>
                </a:lnTo>
                <a:lnTo>
                  <a:pt x="5810250" y="990600"/>
                </a:lnTo>
                <a:lnTo>
                  <a:pt x="0" y="9906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581210"/>
            <a:ext cx="58102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435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gains were visible in both usage control and remote reliability.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1000" y="1638672"/>
            <a:ext cx="5238750" cy="385763"/>
          </a:xfrm>
          <a:custGeom>
            <a:avLst/>
            <a:gdLst/>
            <a:ahLst/>
            <a:cxnLst/>
            <a:rect l="l" t="t" r="r" b="b"/>
            <a:pathLst>
              <a:path w="5238750" h="385763">
                <a:moveTo>
                  <a:pt x="0" y="0"/>
                </a:moveTo>
                <a:lnTo>
                  <a:pt x="5238750" y="0"/>
                </a:lnTo>
                <a:lnTo>
                  <a:pt x="5238750" y="385763"/>
                </a:lnTo>
                <a:lnTo>
                  <a:pt x="0" y="3857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81000" y="1638672"/>
            <a:ext cx="52387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103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automation layer reduced idle runtime, improved visibility into energy use, and kept remote switching responsive.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0274" y="2290948"/>
            <a:ext cx="4700588" cy="2693347"/>
          </a:xfrm>
          <a:custGeom>
            <a:avLst/>
            <a:gdLst/>
            <a:ahLst/>
            <a:cxnLst/>
            <a:rect l="l" t="t" r="r" b="b"/>
            <a:pathLst>
              <a:path w="4700588" h="2509838">
                <a:moveTo>
                  <a:pt x="58981" y="0"/>
                </a:moveTo>
                <a:lnTo>
                  <a:pt x="4641606" y="0"/>
                </a:lnTo>
                <a:quadBezTo>
                  <a:pt x="4700588" y="0"/>
                  <a:pt x="4700588" y="58981"/>
                </a:quadBezTo>
                <a:lnTo>
                  <a:pt x="4700588" y="2450856"/>
                </a:lnTo>
                <a:quadBezTo>
                  <a:pt x="4700588" y="2509838"/>
                  <a:pt x="4641606" y="2509838"/>
                </a:quadBezTo>
                <a:lnTo>
                  <a:pt x="58981" y="2509838"/>
                </a:lnTo>
                <a:quadBezTo>
                  <a:pt x="0" y="2509838"/>
                  <a:pt x="0" y="2450856"/>
                </a:quadBezTo>
                <a:lnTo>
                  <a:pt x="0" y="58981"/>
                </a:lnTo>
                <a:quadBezTo>
                  <a:pt x="0" y="0"/>
                  <a:pt x="58981" y="0"/>
                </a:quadBez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12" name="Shape 9"/>
          <p:cNvSpPr/>
          <p:nvPr/>
        </p:nvSpPr>
        <p:spPr>
          <a:xfrm>
            <a:off x="628650" y="2519735"/>
            <a:ext cx="3048000" cy="209550"/>
          </a:xfrm>
          <a:custGeom>
            <a:avLst/>
            <a:gdLst/>
            <a:ahLst/>
            <a:cxnLst/>
            <a:rect l="l" t="t" r="r" b="b"/>
            <a:pathLst>
              <a:path w="3048000" h="209550">
                <a:moveTo>
                  <a:pt x="0" y="0"/>
                </a:moveTo>
                <a:lnTo>
                  <a:pt x="3048000" y="0"/>
                </a:lnTo>
                <a:lnTo>
                  <a:pt x="3048000" y="209550"/>
                </a:lnTo>
                <a:lnTo>
                  <a:pt x="0" y="2095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13637" y="2359522"/>
            <a:ext cx="304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1502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Measured impact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8650" y="2814489"/>
            <a:ext cx="3048000" cy="747712"/>
          </a:xfrm>
          <a:custGeom>
            <a:avLst/>
            <a:gdLst/>
            <a:ahLst/>
            <a:cxnLst/>
            <a:rect l="l" t="t" r="r" b="b"/>
            <a:pathLst>
              <a:path w="3048000" h="747712">
                <a:moveTo>
                  <a:pt x="0" y="0"/>
                </a:moveTo>
                <a:lnTo>
                  <a:pt x="3048000" y="0"/>
                </a:lnTo>
                <a:lnTo>
                  <a:pt x="3048000" y="747712"/>
                </a:lnTo>
                <a:lnTo>
                  <a:pt x="0" y="7477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27031" y="2603079"/>
            <a:ext cx="3048000" cy="74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826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system shifted routine appliance behavior from passive standby toward controlled, visible, and remotely managed operation.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375286" y="251973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66673" y="0"/>
                </a:moveTo>
                <a:lnTo>
                  <a:pt x="390527" y="0"/>
                </a:lnTo>
                <a:quadBezTo>
                  <a:pt x="457200" y="0"/>
                  <a:pt x="457200" y="66673"/>
                </a:quadBezTo>
                <a:lnTo>
                  <a:pt x="457200" y="390527"/>
                </a:lnTo>
                <a:quadBezTo>
                  <a:pt x="457200" y="457200"/>
                  <a:pt x="390527" y="457200"/>
                </a:quadBezTo>
                <a:lnTo>
                  <a:pt x="66673" y="457200"/>
                </a:lnTo>
                <a:quadBezTo>
                  <a:pt x="0" y="457200"/>
                  <a:pt x="0" y="390527"/>
                </a:quadBezTo>
                <a:lnTo>
                  <a:pt x="0" y="66673"/>
                </a:lnTo>
                <a:quadBezTo>
                  <a:pt x="0" y="0"/>
                  <a:pt x="66673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111" y="2643560"/>
            <a:ext cx="209550" cy="20955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8650" y="331539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19" name="Shape 15"/>
          <p:cNvSpPr/>
          <p:nvPr/>
        </p:nvSpPr>
        <p:spPr>
          <a:xfrm>
            <a:off x="762000" y="3562146"/>
            <a:ext cx="3295650" cy="152400"/>
          </a:xfrm>
          <a:custGeom>
            <a:avLst/>
            <a:gdLst/>
            <a:ahLst/>
            <a:cxnLst/>
            <a:rect l="l" t="t" r="r" b="b"/>
            <a:pathLst>
              <a:path w="3295650" h="152400">
                <a:moveTo>
                  <a:pt x="0" y="0"/>
                </a:moveTo>
                <a:lnTo>
                  <a:pt x="3295650" y="0"/>
                </a:lnTo>
                <a:lnTo>
                  <a:pt x="329565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762000" y="3272378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Reduced idle appliance runtime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762000" y="3744032"/>
            <a:ext cx="3295650" cy="319088"/>
          </a:xfrm>
          <a:custGeom>
            <a:avLst/>
            <a:gdLst/>
            <a:ahLst/>
            <a:cxnLst/>
            <a:rect l="l" t="t" r="r" b="b"/>
            <a:pathLst>
              <a:path w="3295650" h="319088">
                <a:moveTo>
                  <a:pt x="0" y="0"/>
                </a:moveTo>
                <a:lnTo>
                  <a:pt x="3295650" y="0"/>
                </a:lnTo>
                <a:lnTo>
                  <a:pt x="3295650" y="319088"/>
                </a:lnTo>
                <a:lnTo>
                  <a:pt x="0" y="3190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762000" y="3450117"/>
            <a:ext cx="329565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 removed unnecessary standby behavior during low-use periods.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28650" y="386217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2BB673"/>
          </a:solidFill>
          <a:ln/>
        </p:spPr>
      </p:sp>
      <p:sp>
        <p:nvSpPr>
          <p:cNvPr id="24" name="Shape 20"/>
          <p:cNvSpPr/>
          <p:nvPr/>
        </p:nvSpPr>
        <p:spPr>
          <a:xfrm>
            <a:off x="762000" y="4149755"/>
            <a:ext cx="3295650" cy="152400"/>
          </a:xfrm>
          <a:custGeom>
            <a:avLst/>
            <a:gdLst/>
            <a:ahLst/>
            <a:cxnLst/>
            <a:rect l="l" t="t" r="r" b="b"/>
            <a:pathLst>
              <a:path w="3295650" h="152400">
                <a:moveTo>
                  <a:pt x="0" y="0"/>
                </a:moveTo>
                <a:lnTo>
                  <a:pt x="3295650" y="0"/>
                </a:lnTo>
                <a:lnTo>
                  <a:pt x="329565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762000" y="3810938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Improved visibility of energy usage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762000" y="4331644"/>
            <a:ext cx="3295650" cy="319088"/>
          </a:xfrm>
          <a:custGeom>
            <a:avLst/>
            <a:gdLst/>
            <a:ahLst/>
            <a:cxnLst/>
            <a:rect l="l" t="t" r="r" b="b"/>
            <a:pathLst>
              <a:path w="3295650" h="319088">
                <a:moveTo>
                  <a:pt x="0" y="0"/>
                </a:moveTo>
                <a:lnTo>
                  <a:pt x="3295650" y="0"/>
                </a:lnTo>
                <a:lnTo>
                  <a:pt x="3295650" y="319088"/>
                </a:lnTo>
                <a:lnTo>
                  <a:pt x="0" y="3190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762000" y="3984662"/>
            <a:ext cx="329565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Usage patterns became easier to review through the control interface.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28650" y="437631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29" name="Shape 25"/>
          <p:cNvSpPr/>
          <p:nvPr/>
        </p:nvSpPr>
        <p:spPr>
          <a:xfrm>
            <a:off x="762000" y="4737367"/>
            <a:ext cx="3295650" cy="152400"/>
          </a:xfrm>
          <a:custGeom>
            <a:avLst/>
            <a:gdLst/>
            <a:ahLst/>
            <a:cxnLst/>
            <a:rect l="l" t="t" r="r" b="b"/>
            <a:pathLst>
              <a:path w="3295650" h="152400">
                <a:moveTo>
                  <a:pt x="0" y="0"/>
                </a:moveTo>
                <a:lnTo>
                  <a:pt x="3295650" y="0"/>
                </a:lnTo>
                <a:lnTo>
                  <a:pt x="3295650" y="15240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0" name="Text 26"/>
          <p:cNvSpPr/>
          <p:nvPr/>
        </p:nvSpPr>
        <p:spPr>
          <a:xfrm>
            <a:off x="762000" y="4325072"/>
            <a:ext cx="3295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217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Stable remote switching response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762000" y="4919254"/>
            <a:ext cx="3295650" cy="319088"/>
          </a:xfrm>
          <a:custGeom>
            <a:avLst/>
            <a:gdLst/>
            <a:ahLst/>
            <a:cxnLst/>
            <a:rect l="l" t="t" r="r" b="b"/>
            <a:pathLst>
              <a:path w="3295650" h="319088">
                <a:moveTo>
                  <a:pt x="0" y="0"/>
                </a:moveTo>
                <a:lnTo>
                  <a:pt x="3295650" y="0"/>
                </a:lnTo>
                <a:lnTo>
                  <a:pt x="3295650" y="319088"/>
                </a:lnTo>
                <a:lnTo>
                  <a:pt x="0" y="3190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8"/>
          <p:cNvSpPr/>
          <p:nvPr/>
        </p:nvSpPr>
        <p:spPr>
          <a:xfrm>
            <a:off x="762000" y="4470216"/>
            <a:ext cx="3295650" cy="319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739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Commands remained dependable during normal home-network operation.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5290412" y="2290279"/>
            <a:ext cx="3471863" cy="762000"/>
          </a:xfrm>
          <a:custGeom>
            <a:avLst/>
            <a:gdLst/>
            <a:ahLst/>
            <a:cxnLst/>
            <a:rect l="l" t="t" r="r" b="b"/>
            <a:pathLst>
              <a:path w="3471863" h="762000">
                <a:moveTo>
                  <a:pt x="171450" y="0"/>
                </a:moveTo>
                <a:lnTo>
                  <a:pt x="3300413" y="0"/>
                </a:lnTo>
                <a:quadBezTo>
                  <a:pt x="3471863" y="0"/>
                  <a:pt x="3471863" y="171450"/>
                </a:quadBezTo>
                <a:lnTo>
                  <a:pt x="3471863" y="590550"/>
                </a:lnTo>
                <a:quadBezTo>
                  <a:pt x="3471863" y="762000"/>
                  <a:pt x="3300413" y="762000"/>
                </a:quadBezTo>
                <a:lnTo>
                  <a:pt x="171450" y="762000"/>
                </a:lnTo>
                <a:quadBezTo>
                  <a:pt x="0" y="762000"/>
                  <a:pt x="0" y="590550"/>
                </a:quadBezTo>
                <a:lnTo>
                  <a:pt x="0" y="171450"/>
                </a:lnTo>
                <a:quadBezTo>
                  <a:pt x="0" y="0"/>
                  <a:pt x="171450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01600" dist="50800" dir="13500000" algn="bl" rotWithShape="0">
              <a:srgbClr val="EAF2F8">
                <a:alpha val="100000"/>
              </a:srgbClr>
            </a:outerShdw>
          </a:effectLst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1611" y="2401266"/>
            <a:ext cx="133350" cy="133350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5652753" y="2394124"/>
            <a:ext cx="1552575" cy="147637"/>
          </a:xfrm>
          <a:custGeom>
            <a:avLst/>
            <a:gdLst/>
            <a:ahLst/>
            <a:cxnLst/>
            <a:rect l="l" t="t" r="r" b="b"/>
            <a:pathLst>
              <a:path w="1552575" h="147637">
                <a:moveTo>
                  <a:pt x="0" y="0"/>
                </a:moveTo>
                <a:lnTo>
                  <a:pt x="1552575" y="0"/>
                </a:lnTo>
                <a:lnTo>
                  <a:pt x="1552575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31"/>
          <p:cNvSpPr/>
          <p:nvPr/>
        </p:nvSpPr>
        <p:spPr>
          <a:xfrm>
            <a:off x="5652753" y="2394124"/>
            <a:ext cx="1552575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870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 efficiency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5452337" y="2608884"/>
            <a:ext cx="3148012" cy="357188"/>
          </a:xfrm>
          <a:custGeom>
            <a:avLst/>
            <a:gdLst/>
            <a:ahLst/>
            <a:cxnLst/>
            <a:rect l="l" t="t" r="r" b="b"/>
            <a:pathLst>
              <a:path w="3148012" h="357188">
                <a:moveTo>
                  <a:pt x="0" y="0"/>
                </a:moveTo>
                <a:lnTo>
                  <a:pt x="3148012" y="0"/>
                </a:lnTo>
                <a:lnTo>
                  <a:pt x="3148012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5452337" y="2608884"/>
            <a:ext cx="3148012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Routine control now supports measurable savings by reducing wasted runtime.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5290412" y="3164867"/>
            <a:ext cx="3471863" cy="762000"/>
          </a:xfrm>
          <a:custGeom>
            <a:avLst/>
            <a:gdLst/>
            <a:ahLst/>
            <a:cxnLst/>
            <a:rect l="l" t="t" r="r" b="b"/>
            <a:pathLst>
              <a:path w="3471863" h="762000">
                <a:moveTo>
                  <a:pt x="171450" y="0"/>
                </a:moveTo>
                <a:lnTo>
                  <a:pt x="3300413" y="0"/>
                </a:lnTo>
                <a:quadBezTo>
                  <a:pt x="3471863" y="0"/>
                  <a:pt x="3471863" y="171450"/>
                </a:quadBezTo>
                <a:lnTo>
                  <a:pt x="3471863" y="590550"/>
                </a:lnTo>
                <a:quadBezTo>
                  <a:pt x="3471863" y="762000"/>
                  <a:pt x="3300413" y="762000"/>
                </a:quadBezTo>
                <a:lnTo>
                  <a:pt x="171450" y="762000"/>
                </a:lnTo>
                <a:quadBezTo>
                  <a:pt x="0" y="762000"/>
                  <a:pt x="0" y="590550"/>
                </a:quadBezTo>
                <a:lnTo>
                  <a:pt x="0" y="171450"/>
                </a:lnTo>
                <a:quadBezTo>
                  <a:pt x="0" y="0"/>
                  <a:pt x="171450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1611" y="3275856"/>
            <a:ext cx="133350" cy="133350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5652195" y="3268712"/>
            <a:ext cx="1333500" cy="147637"/>
          </a:xfrm>
          <a:custGeom>
            <a:avLst/>
            <a:gdLst/>
            <a:ahLst/>
            <a:cxnLst/>
            <a:rect l="l" t="t" r="r" b="b"/>
            <a:pathLst>
              <a:path w="1333500" h="147637">
                <a:moveTo>
                  <a:pt x="0" y="0"/>
                </a:moveTo>
                <a:lnTo>
                  <a:pt x="1333500" y="0"/>
                </a:lnTo>
                <a:lnTo>
                  <a:pt x="1333500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2" name="Text 36"/>
          <p:cNvSpPr/>
          <p:nvPr/>
        </p:nvSpPr>
        <p:spPr>
          <a:xfrm>
            <a:off x="5652195" y="3268712"/>
            <a:ext cx="1333500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870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Visibility for review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5452337" y="3483472"/>
            <a:ext cx="3148012" cy="357188"/>
          </a:xfrm>
          <a:custGeom>
            <a:avLst/>
            <a:gdLst/>
            <a:ahLst/>
            <a:cxnLst/>
            <a:rect l="l" t="t" r="r" b="b"/>
            <a:pathLst>
              <a:path w="3148012" h="357188">
                <a:moveTo>
                  <a:pt x="0" y="0"/>
                </a:moveTo>
                <a:lnTo>
                  <a:pt x="3148012" y="0"/>
                </a:lnTo>
                <a:lnTo>
                  <a:pt x="3148012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4" name="Text 38"/>
          <p:cNvSpPr/>
          <p:nvPr/>
        </p:nvSpPr>
        <p:spPr>
          <a:xfrm>
            <a:off x="5452337" y="3483472"/>
            <a:ext cx="3148012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use became traceable enough to support engineering analysis.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5290412" y="4039456"/>
            <a:ext cx="3471863" cy="762000"/>
          </a:xfrm>
          <a:custGeom>
            <a:avLst/>
            <a:gdLst/>
            <a:ahLst/>
            <a:cxnLst/>
            <a:rect l="l" t="t" r="r" b="b"/>
            <a:pathLst>
              <a:path w="3471863" h="762000">
                <a:moveTo>
                  <a:pt x="171450" y="0"/>
                </a:moveTo>
                <a:lnTo>
                  <a:pt x="3300413" y="0"/>
                </a:lnTo>
                <a:quadBezTo>
                  <a:pt x="3471863" y="0"/>
                  <a:pt x="3471863" y="171450"/>
                </a:quadBezTo>
                <a:lnTo>
                  <a:pt x="3471863" y="590550"/>
                </a:lnTo>
                <a:quadBezTo>
                  <a:pt x="3471863" y="762000"/>
                  <a:pt x="3300413" y="762000"/>
                </a:quadBezTo>
                <a:lnTo>
                  <a:pt x="171450" y="762000"/>
                </a:lnTo>
                <a:quadBezTo>
                  <a:pt x="0" y="762000"/>
                  <a:pt x="0" y="590550"/>
                </a:quadBezTo>
                <a:lnTo>
                  <a:pt x="0" y="171450"/>
                </a:lnTo>
                <a:quadBezTo>
                  <a:pt x="0" y="0"/>
                  <a:pt x="171450" y="0"/>
                </a:quadBezTo>
                <a:close/>
              </a:path>
            </a:pathLst>
          </a:custGeom>
          <a:solidFill>
            <a:srgbClr val="F5F8FC"/>
          </a:solidFill>
          <a:ln/>
        </p:spPr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1611" y="4150444"/>
            <a:ext cx="133350" cy="133350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5652027" y="4143301"/>
            <a:ext cx="1643063" cy="147637"/>
          </a:xfrm>
          <a:custGeom>
            <a:avLst/>
            <a:gdLst/>
            <a:ahLst/>
            <a:cxnLst/>
            <a:rect l="l" t="t" r="r" b="b"/>
            <a:pathLst>
              <a:path w="1643063" h="147637">
                <a:moveTo>
                  <a:pt x="0" y="0"/>
                </a:moveTo>
                <a:lnTo>
                  <a:pt x="1643063" y="0"/>
                </a:lnTo>
                <a:lnTo>
                  <a:pt x="1643063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48" name="Text 41"/>
          <p:cNvSpPr/>
          <p:nvPr/>
        </p:nvSpPr>
        <p:spPr>
          <a:xfrm>
            <a:off x="5652027" y="4143301"/>
            <a:ext cx="1643063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870"/>
              </a:lnSpc>
              <a:spcBef>
                <a:spcPts val="281"/>
              </a:spcBef>
              <a:buNone/>
            </a:pPr>
            <a:r>
              <a:rPr lang="en-US" sz="1001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Reliable remote control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5452337" y="4358060"/>
            <a:ext cx="3148012" cy="357188"/>
          </a:xfrm>
          <a:custGeom>
            <a:avLst/>
            <a:gdLst/>
            <a:ahLst/>
            <a:cxnLst/>
            <a:rect l="l" t="t" r="r" b="b"/>
            <a:pathLst>
              <a:path w="3148012" h="357188">
                <a:moveTo>
                  <a:pt x="0" y="0"/>
                </a:moveTo>
                <a:lnTo>
                  <a:pt x="3148012" y="0"/>
                </a:lnTo>
                <a:lnTo>
                  <a:pt x="3148012" y="357188"/>
                </a:lnTo>
                <a:lnTo>
                  <a:pt x="0" y="3571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50" name="Text 43"/>
          <p:cNvSpPr/>
          <p:nvPr/>
        </p:nvSpPr>
        <p:spPr>
          <a:xfrm>
            <a:off x="5452337" y="4358060"/>
            <a:ext cx="3148012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6522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Switching response stayed stable under everyday operating conditions.</a:t>
            </a:r>
            <a:endParaRPr lang="en-US" sz="9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6E58F47A-57DC-3203-D77B-8F4BCE0EF22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00050" y="395287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33337"/>
                </a:moveTo>
                <a:cubicBezTo>
                  <a:pt x="0" y="51749"/>
                  <a:pt x="14926" y="66675"/>
                  <a:pt x="33337" y="66675"/>
                </a:cubicBezTo>
                <a:cubicBezTo>
                  <a:pt x="51749" y="66675"/>
                  <a:pt x="66675" y="51749"/>
                  <a:pt x="66675" y="33337"/>
                </a:cubicBezTo>
                <a:cubicBezTo>
                  <a:pt x="66675" y="14926"/>
                  <a:pt x="51749" y="0"/>
                  <a:pt x="33337" y="0"/>
                </a:cubicBezTo>
                <a:cubicBezTo>
                  <a:pt x="14926" y="0"/>
                  <a:pt x="0" y="14926"/>
                  <a:pt x="0" y="33337"/>
                </a:cubicBezTo>
                <a:close/>
              </a:path>
            </a:pathLst>
          </a:custGeom>
          <a:solidFill>
            <a:srgbClr val="0B2E59"/>
          </a:solidFill>
          <a:ln/>
        </p:spPr>
      </p:sp>
      <p:sp>
        <p:nvSpPr>
          <p:cNvPr id="7" name="Shape 3"/>
          <p:cNvSpPr/>
          <p:nvPr/>
        </p:nvSpPr>
        <p:spPr>
          <a:xfrm>
            <a:off x="523875" y="359569"/>
            <a:ext cx="795077" cy="138113"/>
          </a:xfrm>
          <a:custGeom>
            <a:avLst/>
            <a:gdLst/>
            <a:ahLst/>
            <a:cxnLst/>
            <a:rect l="l" t="t" r="r" b="b"/>
            <a:pathLst>
              <a:path w="795077" h="138113">
                <a:moveTo>
                  <a:pt x="0" y="0"/>
                </a:moveTo>
                <a:lnTo>
                  <a:pt x="795077" y="0"/>
                </a:lnTo>
                <a:lnTo>
                  <a:pt x="795077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523875" y="359569"/>
            <a:ext cx="795077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435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00050" y="581955"/>
            <a:ext cx="6096000" cy="638175"/>
          </a:xfrm>
          <a:custGeom>
            <a:avLst/>
            <a:gdLst/>
            <a:ahLst/>
            <a:cxnLst/>
            <a:rect l="l" t="t" r="r" b="b"/>
            <a:pathLst>
              <a:path w="6096000" h="638175">
                <a:moveTo>
                  <a:pt x="0" y="0"/>
                </a:moveTo>
                <a:lnTo>
                  <a:pt x="6096000" y="0"/>
                </a:lnTo>
                <a:lnTo>
                  <a:pt x="6096000" y="638175"/>
                </a:lnTo>
                <a:lnTo>
                  <a:pt x="0" y="6381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400050" y="581955"/>
            <a:ext cx="609600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1304"/>
              </a:lnSpc>
              <a:spcBef>
                <a:spcPts val="281"/>
              </a:spcBef>
              <a:buNone/>
            </a:pPr>
            <a:r>
              <a:rPr lang="en-US" sz="2402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Discussion, Limitations, and Future Work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00050" y="1287736"/>
            <a:ext cx="5810250" cy="381000"/>
          </a:xfrm>
          <a:custGeom>
            <a:avLst/>
            <a:gdLst/>
            <a:ahLst/>
            <a:cxnLst/>
            <a:rect l="l" t="t" r="r" b="b"/>
            <a:pathLst>
              <a:path w="5810250" h="381000">
                <a:moveTo>
                  <a:pt x="0" y="0"/>
                </a:moveTo>
                <a:lnTo>
                  <a:pt x="5810250" y="0"/>
                </a:lnTo>
                <a:lnTo>
                  <a:pt x="5810250" y="381000"/>
                </a:lnTo>
                <a:lnTo>
                  <a:pt x="0" y="38100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00050" y="1287736"/>
            <a:ext cx="5810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696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balanced review of what the prototype proved, where scalability remains constrained, and which enhancements matter next.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00050" y="1831665"/>
            <a:ext cx="4067175" cy="2224088"/>
          </a:xfrm>
          <a:custGeom>
            <a:avLst/>
            <a:gdLst/>
            <a:ahLst/>
            <a:cxnLst/>
            <a:rect l="l" t="t" r="r" b="b"/>
            <a:pathLst>
              <a:path w="4067175" h="2224088">
                <a:moveTo>
                  <a:pt x="54824" y="0"/>
                </a:moveTo>
                <a:lnTo>
                  <a:pt x="4012351" y="0"/>
                </a:lnTo>
                <a:quadBezTo>
                  <a:pt x="4067175" y="0"/>
                  <a:pt x="4067175" y="54824"/>
                </a:quadBezTo>
                <a:lnTo>
                  <a:pt x="4067175" y="2169264"/>
                </a:lnTo>
                <a:quadBezTo>
                  <a:pt x="4067175" y="2224088"/>
                  <a:pt x="4012351" y="2224088"/>
                </a:quadBezTo>
                <a:lnTo>
                  <a:pt x="54824" y="2224088"/>
                </a:lnTo>
                <a:quadBezTo>
                  <a:pt x="0" y="2224088"/>
                  <a:pt x="0" y="2169264"/>
                </a:quadBezTo>
                <a:lnTo>
                  <a:pt x="0" y="54824"/>
                </a:lnTo>
                <a:quadBezTo>
                  <a:pt x="0" y="0"/>
                  <a:pt x="54824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33350" dist="47625" dir="2700000" algn="bl" rotWithShape="0">
              <a:srgbClr val="0B2E59">
                <a:alpha val="7843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81025" y="206257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15" name="Shape 11"/>
          <p:cNvSpPr/>
          <p:nvPr/>
        </p:nvSpPr>
        <p:spPr>
          <a:xfrm>
            <a:off x="696330" y="2003059"/>
            <a:ext cx="2705100" cy="176212"/>
          </a:xfrm>
          <a:custGeom>
            <a:avLst/>
            <a:gdLst/>
            <a:ahLst/>
            <a:cxnLst/>
            <a:rect l="l" t="t" r="r" b="b"/>
            <a:pathLst>
              <a:path w="2705100" h="176212">
                <a:moveTo>
                  <a:pt x="0" y="0"/>
                </a:moveTo>
                <a:lnTo>
                  <a:pt x="2705100" y="0"/>
                </a:lnTo>
                <a:lnTo>
                  <a:pt x="2705100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96330" y="2003059"/>
            <a:ext cx="2705100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prototype established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284995"/>
            <a:ext cx="123825" cy="123825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80473" y="2265462"/>
            <a:ext cx="3014663" cy="180975"/>
          </a:xfrm>
          <a:custGeom>
            <a:avLst/>
            <a:gdLst/>
            <a:ahLst/>
            <a:cxnLst/>
            <a:rect l="l" t="t" r="r" b="b"/>
            <a:pathLst>
              <a:path w="3014663" h="180975">
                <a:moveTo>
                  <a:pt x="0" y="0"/>
                </a:moveTo>
                <a:lnTo>
                  <a:pt x="3014663" y="0"/>
                </a:lnTo>
                <a:lnTo>
                  <a:pt x="3014663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9" name="Text 14"/>
          <p:cNvSpPr/>
          <p:nvPr/>
        </p:nvSpPr>
        <p:spPr>
          <a:xfrm>
            <a:off x="780473" y="2265462"/>
            <a:ext cx="30146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functionality validated in the prototype.</a:t>
            </a:r>
            <a:endParaRPr lang="en-US" sz="9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569778"/>
            <a:ext cx="123825" cy="12382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81050" y="2549761"/>
            <a:ext cx="3505200" cy="361950"/>
          </a:xfrm>
          <a:custGeom>
            <a:avLst/>
            <a:gdLst/>
            <a:ahLst/>
            <a:cxnLst/>
            <a:rect l="l" t="t" r="r" b="b"/>
            <a:pathLst>
              <a:path w="3505200" h="361950">
                <a:moveTo>
                  <a:pt x="0" y="0"/>
                </a:moveTo>
                <a:lnTo>
                  <a:pt x="3505200" y="0"/>
                </a:lnTo>
                <a:lnTo>
                  <a:pt x="3505200" y="361950"/>
                </a:lnTo>
                <a:lnTo>
                  <a:pt x="0" y="3619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781050" y="2549761"/>
            <a:ext cx="3505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 supports structured IoT home automation workflows.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676775" y="1831665"/>
            <a:ext cx="4067175" cy="2224088"/>
          </a:xfrm>
          <a:custGeom>
            <a:avLst/>
            <a:gdLst/>
            <a:ahLst/>
            <a:cxnLst/>
            <a:rect l="l" t="t" r="r" b="b"/>
            <a:pathLst>
              <a:path w="4067175" h="2224088">
                <a:moveTo>
                  <a:pt x="54824" y="0"/>
                </a:moveTo>
                <a:lnTo>
                  <a:pt x="4012351" y="0"/>
                </a:lnTo>
                <a:quadBezTo>
                  <a:pt x="4067175" y="0"/>
                  <a:pt x="4067175" y="54824"/>
                </a:quadBezTo>
                <a:lnTo>
                  <a:pt x="4067175" y="2169264"/>
                </a:lnTo>
                <a:quadBezTo>
                  <a:pt x="4067175" y="2224088"/>
                  <a:pt x="4012351" y="2224088"/>
                </a:quadBezTo>
                <a:lnTo>
                  <a:pt x="54824" y="2224088"/>
                </a:lnTo>
                <a:quadBezTo>
                  <a:pt x="0" y="2224088"/>
                  <a:pt x="0" y="2169264"/>
                </a:quadBezTo>
                <a:lnTo>
                  <a:pt x="0" y="54824"/>
                </a:lnTo>
                <a:quadBezTo>
                  <a:pt x="0" y="0"/>
                  <a:pt x="54824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sp>
        <p:nvSpPr>
          <p:cNvPr id="24" name="Shape 18"/>
          <p:cNvSpPr/>
          <p:nvPr/>
        </p:nvSpPr>
        <p:spPr>
          <a:xfrm>
            <a:off x="4857750" y="206257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0" y="28575"/>
                </a:moveTo>
                <a:cubicBezTo>
                  <a:pt x="0" y="44357"/>
                  <a:pt x="12793" y="57150"/>
                  <a:pt x="28575" y="57150"/>
                </a:cubicBezTo>
                <a:cubicBezTo>
                  <a:pt x="44357" y="57150"/>
                  <a:pt x="57150" y="44357"/>
                  <a:pt x="57150" y="28575"/>
                </a:cubicBezTo>
                <a:cubicBezTo>
                  <a:pt x="57150" y="12793"/>
                  <a:pt x="44357" y="0"/>
                  <a:pt x="28575" y="0"/>
                </a:cubicBezTo>
                <a:cubicBezTo>
                  <a:pt x="12793" y="0"/>
                  <a:pt x="0" y="12793"/>
                  <a:pt x="0" y="28575"/>
                </a:cubicBezTo>
                <a:close/>
              </a:path>
            </a:pathLst>
          </a:custGeom>
          <a:solidFill>
            <a:srgbClr val="F4A261"/>
          </a:solidFill>
          <a:ln/>
        </p:spPr>
      </p:sp>
      <p:sp>
        <p:nvSpPr>
          <p:cNvPr id="25" name="Shape 19"/>
          <p:cNvSpPr/>
          <p:nvPr/>
        </p:nvSpPr>
        <p:spPr>
          <a:xfrm>
            <a:off x="4971362" y="2003059"/>
            <a:ext cx="2124075" cy="176212"/>
          </a:xfrm>
          <a:custGeom>
            <a:avLst/>
            <a:gdLst/>
            <a:ahLst/>
            <a:cxnLst/>
            <a:rect l="l" t="t" r="r" b="b"/>
            <a:pathLst>
              <a:path w="2124075" h="176212">
                <a:moveTo>
                  <a:pt x="0" y="0"/>
                </a:moveTo>
                <a:lnTo>
                  <a:pt x="2124075" y="0"/>
                </a:lnTo>
                <a:lnTo>
                  <a:pt x="2124075" y="176212"/>
                </a:lnTo>
                <a:lnTo>
                  <a:pt x="0" y="176212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4971362" y="2003059"/>
            <a:ext cx="2124075" cy="17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1739"/>
              </a:lnSpc>
              <a:spcBef>
                <a:spcPts val="281"/>
              </a:spcBef>
              <a:buNone/>
            </a:pPr>
            <a:r>
              <a:rPr lang="en-US" sz="11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must improve next</a:t>
            </a:r>
            <a:endParaRPr lang="en-US" sz="9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2284995"/>
            <a:ext cx="123825" cy="12382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056770" y="2265462"/>
            <a:ext cx="3005137" cy="180975"/>
          </a:xfrm>
          <a:custGeom>
            <a:avLst/>
            <a:gdLst/>
            <a:ahLst/>
            <a:cxnLst/>
            <a:rect l="l" t="t" r="r" b="b"/>
            <a:pathLst>
              <a:path w="3005137" h="180975">
                <a:moveTo>
                  <a:pt x="0" y="0"/>
                </a:moveTo>
                <a:lnTo>
                  <a:pt x="3005137" y="0"/>
                </a:lnTo>
                <a:lnTo>
                  <a:pt x="3005137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9" name="Text 22"/>
          <p:cNvSpPr/>
          <p:nvPr/>
        </p:nvSpPr>
        <p:spPr>
          <a:xfrm>
            <a:off x="5056770" y="2265462"/>
            <a:ext cx="30051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Scalability needs broader appliance support.</a:t>
            </a:r>
            <a:endParaRPr lang="en-US" sz="9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2569778"/>
            <a:ext cx="123825" cy="123825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5057775" y="2549761"/>
            <a:ext cx="3505200" cy="361950"/>
          </a:xfrm>
          <a:custGeom>
            <a:avLst/>
            <a:gdLst/>
            <a:ahLst/>
            <a:cxnLst/>
            <a:rect l="l" t="t" r="r" b="b"/>
            <a:pathLst>
              <a:path w="3505200" h="361950">
                <a:moveTo>
                  <a:pt x="0" y="0"/>
                </a:moveTo>
                <a:lnTo>
                  <a:pt x="3505200" y="0"/>
                </a:lnTo>
                <a:lnTo>
                  <a:pt x="3505200" y="361950"/>
                </a:lnTo>
                <a:lnTo>
                  <a:pt x="0" y="36195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2" name="Text 24"/>
          <p:cNvSpPr/>
          <p:nvPr/>
        </p:nvSpPr>
        <p:spPr>
          <a:xfrm>
            <a:off x="5057775" y="2549761"/>
            <a:ext cx="35052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478"/>
              </a:lnSpc>
              <a:spcBef>
                <a:spcPts val="281"/>
              </a:spcBef>
              <a:buNone/>
            </a:pPr>
            <a:r>
              <a:rPr lang="en-US" sz="100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AI-based load prediction and stronger fault detection.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00050" y="4219129"/>
            <a:ext cx="8343900" cy="600075"/>
          </a:xfrm>
          <a:custGeom>
            <a:avLst/>
            <a:gdLst/>
            <a:ahLst/>
            <a:cxnLst/>
            <a:rect l="l" t="t" r="r" b="b"/>
            <a:pathLst>
              <a:path w="8343900" h="600075">
                <a:moveTo>
                  <a:pt x="174172" y="0"/>
                </a:moveTo>
                <a:lnTo>
                  <a:pt x="8169728" y="0"/>
                </a:lnTo>
                <a:quadBezTo>
                  <a:pt x="8343900" y="0"/>
                  <a:pt x="8343900" y="174172"/>
                </a:quadBezTo>
                <a:lnTo>
                  <a:pt x="8343900" y="425903"/>
                </a:lnTo>
                <a:quadBezTo>
                  <a:pt x="8343900" y="600075"/>
                  <a:pt x="8169728" y="600075"/>
                </a:quadBezTo>
                <a:lnTo>
                  <a:pt x="174172" y="600075"/>
                </a:lnTo>
                <a:quadBezTo>
                  <a:pt x="0" y="600075"/>
                  <a:pt x="0" y="425903"/>
                </a:quadBezTo>
                <a:lnTo>
                  <a:pt x="0" y="174172"/>
                </a:lnTo>
                <a:quadBezTo>
                  <a:pt x="0" y="0"/>
                  <a:pt x="174172" y="0"/>
                </a:quadBezTo>
                <a:close/>
              </a:path>
            </a:pathLst>
          </a:custGeom>
          <a:solidFill>
            <a:srgbClr val="0B2E59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4447729"/>
            <a:ext cx="142875" cy="142875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780398" y="4428679"/>
            <a:ext cx="1347788" cy="180975"/>
          </a:xfrm>
          <a:custGeom>
            <a:avLst/>
            <a:gdLst/>
            <a:ahLst/>
            <a:cxnLst/>
            <a:rect l="l" t="t" r="r" b="b"/>
            <a:pathLst>
              <a:path w="1347788" h="180975">
                <a:moveTo>
                  <a:pt x="0" y="0"/>
                </a:moveTo>
                <a:lnTo>
                  <a:pt x="1347788" y="0"/>
                </a:lnTo>
                <a:lnTo>
                  <a:pt x="1347788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6" name="Text 27"/>
          <p:cNvSpPr/>
          <p:nvPr/>
        </p:nvSpPr>
        <p:spPr>
          <a:xfrm>
            <a:off x="780398" y="4428679"/>
            <a:ext cx="1347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2581275" y="4352479"/>
            <a:ext cx="6000750" cy="333375"/>
          </a:xfrm>
          <a:custGeom>
            <a:avLst/>
            <a:gdLst/>
            <a:ahLst/>
            <a:cxnLst/>
            <a:rect l="l" t="t" r="r" b="b"/>
            <a:pathLst>
              <a:path w="6000750" h="333375">
                <a:moveTo>
                  <a:pt x="0" y="0"/>
                </a:moveTo>
                <a:lnTo>
                  <a:pt x="6000750" y="0"/>
                </a:lnTo>
                <a:lnTo>
                  <a:pt x="6000750" y="333375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38" name="Text 29"/>
          <p:cNvSpPr/>
          <p:nvPr/>
        </p:nvSpPr>
        <p:spPr>
          <a:xfrm>
            <a:off x="2581275" y="4352479"/>
            <a:ext cx="60007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6957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Position the prototype as a validated foundation, then prioritize wider appliance coverage, predictive intelligence, and robust security monitoring.</a:t>
            </a:r>
            <a:endParaRPr lang="en-US" sz="9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22031F56-991D-2E74-04C6-AF4FFC4ABC6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5F8FC"/>
          </a:solidFill>
          <a:ln/>
        </p:spPr>
      </p:sp>
      <p:sp>
        <p:nvSpPr>
          <p:cNvPr id="6" name="Shape 3"/>
          <p:cNvSpPr/>
          <p:nvPr/>
        </p:nvSpPr>
        <p:spPr>
          <a:xfrm>
            <a:off x="419100" y="343849"/>
            <a:ext cx="8305800" cy="123825"/>
          </a:xfrm>
          <a:custGeom>
            <a:avLst/>
            <a:gdLst/>
            <a:ahLst/>
            <a:cxnLst/>
            <a:rect l="l" t="t" r="r" b="b"/>
            <a:pathLst>
              <a:path w="8305800" h="123825">
                <a:moveTo>
                  <a:pt x="0" y="0"/>
                </a:moveTo>
                <a:lnTo>
                  <a:pt x="8305800" y="0"/>
                </a:lnTo>
                <a:lnTo>
                  <a:pt x="8305800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19100" y="343849"/>
            <a:ext cx="83058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652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F8B8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19100" y="536246"/>
            <a:ext cx="5715000" cy="338137"/>
          </a:xfrm>
          <a:custGeom>
            <a:avLst/>
            <a:gdLst/>
            <a:ahLst/>
            <a:cxnLst/>
            <a:rect l="l" t="t" r="r" b="b"/>
            <a:pathLst>
              <a:path w="5715000" h="338137">
                <a:moveTo>
                  <a:pt x="0" y="0"/>
                </a:moveTo>
                <a:lnTo>
                  <a:pt x="5715000" y="0"/>
                </a:lnTo>
                <a:lnTo>
                  <a:pt x="5715000" y="338137"/>
                </a:lnTo>
                <a:lnTo>
                  <a:pt x="0" y="3381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19100" y="536246"/>
            <a:ext cx="5715000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3043"/>
              </a:lnSpc>
              <a:spcBef>
                <a:spcPts val="281"/>
              </a:spcBef>
              <a:buNone/>
            </a:pPr>
            <a:r>
              <a:rPr lang="en-US" sz="2498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19100" y="942938"/>
            <a:ext cx="5334000" cy="409575"/>
          </a:xfrm>
          <a:custGeom>
            <a:avLst/>
            <a:gdLst/>
            <a:ahLst/>
            <a:cxnLst/>
            <a:rect l="l" t="t" r="r" b="b"/>
            <a:pathLst>
              <a:path w="5334000" h="409575">
                <a:moveTo>
                  <a:pt x="0" y="0"/>
                </a:moveTo>
                <a:lnTo>
                  <a:pt x="5334000" y="0"/>
                </a:lnTo>
                <a:lnTo>
                  <a:pt x="5334000" y="409575"/>
                </a:lnTo>
                <a:lnTo>
                  <a:pt x="0" y="4095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19100" y="942938"/>
            <a:ext cx="5334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391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334E6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final summary of the prototype’s impact on efficiency, visibility, and deployment readiness.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19100" y="1658987"/>
            <a:ext cx="8305800" cy="1938337"/>
          </a:xfrm>
          <a:custGeom>
            <a:avLst/>
            <a:gdLst/>
            <a:ahLst/>
            <a:cxnLst/>
            <a:rect l="l" t="t" r="r" b="b"/>
            <a:pathLst>
              <a:path w="8305800" h="1938337">
                <a:moveTo>
                  <a:pt x="67396" y="0"/>
                </a:moveTo>
                <a:lnTo>
                  <a:pt x="8238404" y="0"/>
                </a:lnTo>
                <a:quadBezTo>
                  <a:pt x="8305800" y="0"/>
                  <a:pt x="8305800" y="67396"/>
                </a:quadBezTo>
                <a:lnTo>
                  <a:pt x="8305800" y="1870942"/>
                </a:lnTo>
                <a:quadBezTo>
                  <a:pt x="8305800" y="1938337"/>
                  <a:pt x="8238404" y="1938337"/>
                </a:quadBezTo>
                <a:lnTo>
                  <a:pt x="67396" y="1938337"/>
                </a:lnTo>
                <a:quadBezTo>
                  <a:pt x="0" y="1938337"/>
                  <a:pt x="0" y="1870942"/>
                </a:quadBezTo>
                <a:lnTo>
                  <a:pt x="0" y="67396"/>
                </a:lnTo>
                <a:quadBezTo>
                  <a:pt x="0" y="0"/>
                  <a:pt x="67396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47625" dir="2700000" algn="bl" rotWithShape="0">
              <a:srgbClr val="0B2E59">
                <a:alpha val="5882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2450" y="1994595"/>
            <a:ext cx="419100" cy="28575"/>
          </a:xfrm>
          <a:custGeom>
            <a:avLst/>
            <a:gdLst/>
            <a:ahLst/>
            <a:cxnLst/>
            <a:rect l="l" t="t" r="r" b="b"/>
            <a:pathLst>
              <a:path w="419100" h="28575">
                <a:moveTo>
                  <a:pt x="25400" y="0"/>
                </a:moveTo>
                <a:lnTo>
                  <a:pt x="719667" y="0"/>
                </a:lnTo>
                <a:quadBezTo>
                  <a:pt x="745067" y="0"/>
                  <a:pt x="745067" y="25400"/>
                </a:quadBezTo>
                <a:lnTo>
                  <a:pt x="745067" y="25400"/>
                </a:lnTo>
                <a:quadBezTo>
                  <a:pt x="745067" y="50800"/>
                  <a:pt x="719667" y="50800"/>
                </a:quadBezTo>
                <a:lnTo>
                  <a:pt x="25400" y="50800"/>
                </a:lnTo>
                <a:quadBezTo>
                  <a:pt x="0" y="50800"/>
                  <a:pt x="0" y="25400"/>
                </a:quadBezTo>
                <a:lnTo>
                  <a:pt x="0" y="25400"/>
                </a:lnTo>
                <a:quadBezTo>
                  <a:pt x="0" y="0"/>
                  <a:pt x="25400" y="0"/>
                </a:quad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14" name="Shape 11"/>
          <p:cNvSpPr/>
          <p:nvPr/>
        </p:nvSpPr>
        <p:spPr>
          <a:xfrm>
            <a:off x="1428750" y="2156184"/>
            <a:ext cx="6286500" cy="842963"/>
          </a:xfrm>
          <a:custGeom>
            <a:avLst/>
            <a:gdLst/>
            <a:ahLst/>
            <a:cxnLst/>
            <a:rect l="l" t="t" r="r" b="b"/>
            <a:pathLst>
              <a:path w="6286500" h="842963">
                <a:moveTo>
                  <a:pt x="0" y="0"/>
                </a:moveTo>
                <a:lnTo>
                  <a:pt x="6286500" y="0"/>
                </a:lnTo>
                <a:lnTo>
                  <a:pt x="6286500" y="842963"/>
                </a:lnTo>
                <a:lnTo>
                  <a:pt x="0" y="84296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428750" y="2156184"/>
            <a:ext cx="6286500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spcBef>
                <a:spcPts val="281"/>
              </a:spcBef>
              <a:buNone/>
            </a:pPr>
            <a:r>
              <a:rPr lang="en-US" sz="1598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IoT automation improved home efficiency, monitoring enabled informed energy decisions, and the prototype is scalable for future deployment.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793331" y="3113576"/>
            <a:ext cx="1557338" cy="147637"/>
          </a:xfrm>
          <a:custGeom>
            <a:avLst/>
            <a:gdLst/>
            <a:ahLst/>
            <a:cxnLst/>
            <a:rect l="l" t="t" r="r" b="b"/>
            <a:pathLst>
              <a:path w="1557338" h="147637">
                <a:moveTo>
                  <a:pt x="0" y="0"/>
                </a:moveTo>
                <a:lnTo>
                  <a:pt x="1557338" y="0"/>
                </a:lnTo>
                <a:lnTo>
                  <a:pt x="1557338" y="147637"/>
                </a:lnTo>
                <a:lnTo>
                  <a:pt x="0" y="147637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793331" y="3113576"/>
            <a:ext cx="1557338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3043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0B2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FORMAL CONCLUSION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9100" y="3787377"/>
            <a:ext cx="8305800" cy="1294892"/>
          </a:xfrm>
          <a:custGeom>
            <a:avLst/>
            <a:gdLst/>
            <a:ahLst/>
            <a:cxnLst/>
            <a:rect l="l" t="t" r="r" b="b"/>
            <a:pathLst>
              <a:path w="8305800" h="1033462">
                <a:moveTo>
                  <a:pt x="109557" y="0"/>
                </a:moveTo>
                <a:lnTo>
                  <a:pt x="8196243" y="0"/>
                </a:lnTo>
                <a:quadBezTo>
                  <a:pt x="8305800" y="0"/>
                  <a:pt x="8305800" y="109557"/>
                </a:quadBezTo>
                <a:lnTo>
                  <a:pt x="8305800" y="923905"/>
                </a:lnTo>
                <a:quadBezTo>
                  <a:pt x="8305800" y="1033462"/>
                  <a:pt x="8196243" y="1033462"/>
                </a:quadBezTo>
                <a:lnTo>
                  <a:pt x="109557" y="1033462"/>
                </a:lnTo>
                <a:quadBezTo>
                  <a:pt x="0" y="1033462"/>
                  <a:pt x="0" y="923905"/>
                </a:quadBezTo>
                <a:lnTo>
                  <a:pt x="0" y="109557"/>
                </a:lnTo>
                <a:quadBezTo>
                  <a:pt x="0" y="0"/>
                  <a:pt x="109557" y="0"/>
                </a:quadBezTo>
                <a:close/>
              </a:path>
            </a:pathLst>
          </a:custGeom>
          <a:solidFill>
            <a:srgbClr val="EAF2F8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891986"/>
            <a:ext cx="114300" cy="1143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99523" y="3949302"/>
            <a:ext cx="4900613" cy="180975"/>
          </a:xfrm>
          <a:custGeom>
            <a:avLst/>
            <a:gdLst/>
            <a:ahLst/>
            <a:cxnLst/>
            <a:rect l="l" t="t" r="r" b="b"/>
            <a:pathLst>
              <a:path w="4900613" h="180975">
                <a:moveTo>
                  <a:pt x="0" y="0"/>
                </a:moveTo>
                <a:lnTo>
                  <a:pt x="4900613" y="0"/>
                </a:lnTo>
                <a:lnTo>
                  <a:pt x="4900613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799523" y="3874296"/>
            <a:ext cx="4900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 reduced manual effort and improved home efficiency.</a:t>
            </a:r>
            <a:endParaRPr lang="en-US" sz="9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270601"/>
            <a:ext cx="114300" cy="1143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00343" y="4213623"/>
            <a:ext cx="4452937" cy="180975"/>
          </a:xfrm>
          <a:custGeom>
            <a:avLst/>
            <a:gdLst/>
            <a:ahLst/>
            <a:cxnLst/>
            <a:rect l="l" t="t" r="r" b="b"/>
            <a:pathLst>
              <a:path w="4452937" h="180975">
                <a:moveTo>
                  <a:pt x="0" y="0"/>
                </a:moveTo>
                <a:lnTo>
                  <a:pt x="4452937" y="0"/>
                </a:lnTo>
                <a:lnTo>
                  <a:pt x="4452937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800343" y="4257508"/>
            <a:ext cx="44529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Monitoring turned energy use into clear, informed decisions.</a:t>
            </a:r>
            <a:endParaRPr lang="en-US" sz="9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649218"/>
            <a:ext cx="114300" cy="11430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00565" y="4477941"/>
            <a:ext cx="4357688" cy="180975"/>
          </a:xfrm>
          <a:custGeom>
            <a:avLst/>
            <a:gdLst/>
            <a:ahLst/>
            <a:cxnLst/>
            <a:rect l="l" t="t" r="r" b="b"/>
            <a:pathLst>
              <a:path w="4357688" h="180975">
                <a:moveTo>
                  <a:pt x="0" y="0"/>
                </a:moveTo>
                <a:lnTo>
                  <a:pt x="4357688" y="0"/>
                </a:lnTo>
                <a:lnTo>
                  <a:pt x="4357688" y="180975"/>
                </a:lnTo>
                <a:lnTo>
                  <a:pt x="0" y="18097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799523" y="4651771"/>
            <a:ext cx="43576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304"/>
              </a:lnSpc>
              <a:spcBef>
                <a:spcPts val="281"/>
              </a:spcBef>
              <a:buNone/>
            </a:pPr>
            <a:r>
              <a:rPr lang="en-US" sz="1103" b="1" dirty="0">
                <a:solidFill>
                  <a:srgbClr val="102A4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prototype is structured for scalable future deployment.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E80B649-46B4-0252-4FA0-629F79556E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0B2E59">
              <a:alpha val="72157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3709540" y="1665275"/>
            <a:ext cx="85725" cy="85725"/>
          </a:xfrm>
          <a:custGeom>
            <a:avLst/>
            <a:gdLst/>
            <a:ahLst/>
            <a:cxnLst/>
            <a:rect l="l" t="t" r="r" b="b"/>
            <a:pathLst>
              <a:path w="85725" h="85725">
                <a:moveTo>
                  <a:pt x="0" y="42863"/>
                </a:moveTo>
                <a:cubicBezTo>
                  <a:pt x="0" y="66535"/>
                  <a:pt x="19190" y="85725"/>
                  <a:pt x="42863" y="85725"/>
                </a:cubicBezTo>
                <a:cubicBezTo>
                  <a:pt x="66535" y="85725"/>
                  <a:pt x="85725" y="66535"/>
                  <a:pt x="85725" y="42863"/>
                </a:cubicBezTo>
                <a:cubicBezTo>
                  <a:pt x="85725" y="19190"/>
                  <a:pt x="66535" y="0"/>
                  <a:pt x="42863" y="0"/>
                </a:cubicBezTo>
                <a:cubicBezTo>
                  <a:pt x="19190" y="0"/>
                  <a:pt x="0" y="19190"/>
                  <a:pt x="0" y="42862"/>
                </a:cubicBez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7" name="Shape 3"/>
          <p:cNvSpPr/>
          <p:nvPr/>
        </p:nvSpPr>
        <p:spPr>
          <a:xfrm>
            <a:off x="3862387" y="1639081"/>
            <a:ext cx="1571625" cy="138113"/>
          </a:xfrm>
          <a:custGeom>
            <a:avLst/>
            <a:gdLst/>
            <a:ahLst/>
            <a:cxnLst/>
            <a:rect l="l" t="t" r="r" b="b"/>
            <a:pathLst>
              <a:path w="1571625" h="138113">
                <a:moveTo>
                  <a:pt x="0" y="0"/>
                </a:moveTo>
                <a:lnTo>
                  <a:pt x="1571625" y="0"/>
                </a:lnTo>
                <a:lnTo>
                  <a:pt x="1571625" y="138113"/>
                </a:lnTo>
                <a:lnTo>
                  <a:pt x="0" y="1381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8" name="Text 4"/>
          <p:cNvSpPr/>
          <p:nvPr/>
        </p:nvSpPr>
        <p:spPr>
          <a:xfrm>
            <a:off x="3862387" y="1639081"/>
            <a:ext cx="157162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b="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CAPSTONE PROJECT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428750" y="1881187"/>
            <a:ext cx="6286500" cy="700088"/>
          </a:xfrm>
          <a:custGeom>
            <a:avLst/>
            <a:gdLst/>
            <a:ahLst/>
            <a:cxnLst/>
            <a:rect l="l" t="t" r="r" b="b"/>
            <a:pathLst>
              <a:path w="6286500" h="700088">
                <a:moveTo>
                  <a:pt x="0" y="0"/>
                </a:moveTo>
                <a:lnTo>
                  <a:pt x="6286500" y="0"/>
                </a:lnTo>
                <a:lnTo>
                  <a:pt x="6286500" y="700088"/>
                </a:lnTo>
                <a:lnTo>
                  <a:pt x="0" y="70008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1428750" y="1881187"/>
            <a:ext cx="6286500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8696"/>
              </a:lnSpc>
              <a:spcBef>
                <a:spcPts val="281"/>
              </a:spcBef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952625" y="2666702"/>
            <a:ext cx="5238750" cy="404813"/>
          </a:xfrm>
          <a:custGeom>
            <a:avLst/>
            <a:gdLst/>
            <a:ahLst/>
            <a:cxnLst/>
            <a:rect l="l" t="t" r="r" b="b"/>
            <a:pathLst>
              <a:path w="5238750" h="404813">
                <a:moveTo>
                  <a:pt x="0" y="0"/>
                </a:moveTo>
                <a:lnTo>
                  <a:pt x="5238750" y="0"/>
                </a:lnTo>
                <a:lnTo>
                  <a:pt x="5238750" y="404813"/>
                </a:lnTo>
                <a:lnTo>
                  <a:pt x="0" y="404813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1952625" y="2666702"/>
            <a:ext cx="5238750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652"/>
              </a:lnSpc>
              <a:spcBef>
                <a:spcPts val="281"/>
              </a:spcBef>
              <a:buNone/>
            </a:pPr>
            <a:r>
              <a:rPr lang="en-US" sz="1198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appreciate your time and attention. Questions and feedback are welcome.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95265" y="3232956"/>
            <a:ext cx="1376363" cy="271463"/>
          </a:xfrm>
          <a:custGeom>
            <a:avLst/>
            <a:gdLst/>
            <a:ahLst/>
            <a:cxnLst/>
            <a:rect l="l" t="t" r="r" b="b"/>
            <a:pathLst>
              <a:path w="1376363" h="271463">
                <a:moveTo>
                  <a:pt x="114299" y="0"/>
                </a:moveTo>
                <a:lnTo>
                  <a:pt x="1262063" y="0"/>
                </a:lnTo>
                <a:quadBezTo>
                  <a:pt x="1376363" y="0"/>
                  <a:pt x="1376363" y="114299"/>
                </a:quadBezTo>
                <a:lnTo>
                  <a:pt x="1376363" y="157163"/>
                </a:lnTo>
                <a:quadBezTo>
                  <a:pt x="1376363" y="271463"/>
                  <a:pt x="1262063" y="271463"/>
                </a:quadBezTo>
                <a:lnTo>
                  <a:pt x="114299" y="271463"/>
                </a:lnTo>
                <a:quadBezTo>
                  <a:pt x="0" y="271463"/>
                  <a:pt x="0" y="157163"/>
                </a:quadBezTo>
                <a:lnTo>
                  <a:pt x="0" y="114299"/>
                </a:lnTo>
                <a:quadBezTo>
                  <a:pt x="0" y="0"/>
                  <a:pt x="114299" y="0"/>
                </a:quadBezTo>
                <a:close/>
              </a:path>
            </a:pathLst>
          </a:custGeom>
          <a:solidFill>
            <a:srgbClr val="FFFFFF">
              <a:alpha val="12157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2694215" y="3232956"/>
            <a:ext cx="145294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Mohammed Haneef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057652" y="3240490"/>
            <a:ext cx="1695450" cy="271463"/>
          </a:xfrm>
          <a:custGeom>
            <a:avLst/>
            <a:gdLst/>
            <a:ahLst/>
            <a:cxnLst/>
            <a:rect l="l" t="t" r="r" b="b"/>
            <a:pathLst>
              <a:path w="1695450" h="271463">
                <a:moveTo>
                  <a:pt x="114299" y="0"/>
                </a:moveTo>
                <a:lnTo>
                  <a:pt x="1581151" y="0"/>
                </a:lnTo>
                <a:quadBezTo>
                  <a:pt x="1695450" y="0"/>
                  <a:pt x="1695450" y="114299"/>
                </a:quadBezTo>
                <a:lnTo>
                  <a:pt x="1695450" y="157163"/>
                </a:lnTo>
                <a:quadBezTo>
                  <a:pt x="1695450" y="271463"/>
                  <a:pt x="1581151" y="271463"/>
                </a:quadBezTo>
                <a:lnTo>
                  <a:pt x="114299" y="271463"/>
                </a:lnTo>
                <a:quadBezTo>
                  <a:pt x="0" y="271463"/>
                  <a:pt x="0" y="157163"/>
                </a:quadBezTo>
                <a:lnTo>
                  <a:pt x="0" y="114299"/>
                </a:lnTo>
                <a:quadBezTo>
                  <a:pt x="0" y="0"/>
                  <a:pt x="114299" y="0"/>
                </a:quadBezTo>
                <a:close/>
              </a:path>
            </a:pathLst>
          </a:custGeom>
          <a:solidFill>
            <a:srgbClr val="FFFFFF">
              <a:alpha val="12157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4147161" y="3240389"/>
            <a:ext cx="169545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Mohammed Farmanullah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839126" y="3216542"/>
            <a:ext cx="709613" cy="271463"/>
          </a:xfrm>
          <a:custGeom>
            <a:avLst/>
            <a:gdLst/>
            <a:ahLst/>
            <a:cxnLst/>
            <a:rect l="l" t="t" r="r" b="b"/>
            <a:pathLst>
              <a:path w="709613" h="271463">
                <a:moveTo>
                  <a:pt x="114299" y="0"/>
                </a:moveTo>
                <a:lnTo>
                  <a:pt x="595313" y="0"/>
                </a:lnTo>
                <a:quadBezTo>
                  <a:pt x="709613" y="0"/>
                  <a:pt x="709613" y="114299"/>
                </a:quadBezTo>
                <a:lnTo>
                  <a:pt x="709613" y="157163"/>
                </a:lnTo>
                <a:quadBezTo>
                  <a:pt x="709613" y="271463"/>
                  <a:pt x="595313" y="271463"/>
                </a:quadBezTo>
                <a:lnTo>
                  <a:pt x="114299" y="271463"/>
                </a:lnTo>
                <a:quadBezTo>
                  <a:pt x="0" y="271463"/>
                  <a:pt x="0" y="157163"/>
                </a:quadBezTo>
                <a:lnTo>
                  <a:pt x="0" y="114299"/>
                </a:lnTo>
                <a:quadBezTo>
                  <a:pt x="0" y="0"/>
                  <a:pt x="114299" y="0"/>
                </a:quadBezTo>
                <a:close/>
              </a:path>
            </a:pathLst>
          </a:custGeom>
          <a:solidFill>
            <a:srgbClr val="FFFFFF">
              <a:alpha val="12157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5946056" y="3232956"/>
            <a:ext cx="70961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4348"/>
              </a:lnSpc>
              <a:spcBef>
                <a:spcPts val="281"/>
              </a:spcBef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Kavin JG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71500" y="4728195"/>
            <a:ext cx="304800" cy="19050"/>
          </a:xfrm>
          <a:custGeom>
            <a:avLst/>
            <a:gdLst/>
            <a:ahLst/>
            <a:cxnLst/>
            <a:rect l="l" t="t" r="r" b="b"/>
            <a:pathLst>
              <a:path w="304800" h="19050">
                <a:moveTo>
                  <a:pt x="0" y="0"/>
                </a:moveTo>
                <a:lnTo>
                  <a:pt x="304800" y="0"/>
                </a:lnTo>
                <a:lnTo>
                  <a:pt x="3048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0F8B8D"/>
          </a:solidFill>
          <a:ln/>
        </p:spPr>
      </p:sp>
      <p:sp>
        <p:nvSpPr>
          <p:cNvPr id="20" name="Shape 16"/>
          <p:cNvSpPr/>
          <p:nvPr/>
        </p:nvSpPr>
        <p:spPr>
          <a:xfrm>
            <a:off x="942379" y="4675826"/>
            <a:ext cx="2024062" cy="123825"/>
          </a:xfrm>
          <a:custGeom>
            <a:avLst/>
            <a:gdLst/>
            <a:ahLst/>
            <a:cxnLst/>
            <a:rect l="l" t="t" r="r" b="b"/>
            <a:pathLst>
              <a:path w="2024062" h="123825">
                <a:moveTo>
                  <a:pt x="0" y="0"/>
                </a:moveTo>
                <a:lnTo>
                  <a:pt x="2024062" y="0"/>
                </a:lnTo>
                <a:lnTo>
                  <a:pt x="2024062" y="123825"/>
                </a:lnTo>
                <a:lnTo>
                  <a:pt x="0" y="12382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942379" y="4675826"/>
            <a:ext cx="20240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7826"/>
              </a:lnSpc>
              <a:spcBef>
                <a:spcPts val="281"/>
              </a:spcBef>
              <a:buNone/>
            </a:pPr>
            <a:r>
              <a:rPr lang="en-US" sz="799" b="1" dirty="0">
                <a:solidFill>
                  <a:srgbClr val="EAF2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HOME AUTOMATION HUB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D41C64A-A50B-893B-5278-F4A234E972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91375" y="111919"/>
            <a:ext cx="1857375" cy="552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1916</Words>
  <Application>Microsoft Office PowerPoint</Application>
  <PresentationFormat>On-screen Show (16:9)</PresentationFormat>
  <Paragraphs>264</Paragraphs>
  <Slides>21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KAVIN J.G.</cp:lastModifiedBy>
  <cp:revision>7</cp:revision>
  <dcterms:created xsi:type="dcterms:W3CDTF">2026-08-30T14:24:45Z</dcterms:created>
  <dcterms:modified xsi:type="dcterms:W3CDTF">2026-09-03T14:12:20Z</dcterms:modified>
</cp:coreProperties>
</file>